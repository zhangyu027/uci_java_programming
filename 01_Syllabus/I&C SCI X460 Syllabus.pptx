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0" r:id="rId14"/>
    <p:sldId id="271" r:id="rId15"/>
    <p:sldId id="268" r:id="rId16"/>
    <p:sldId id="26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9" autoAdjust="0"/>
    <p:restoredTop sz="94660"/>
  </p:normalViewPr>
  <p:slideViewPr>
    <p:cSldViewPr snapToGrid="0">
      <p:cViewPr varScale="1">
        <p:scale>
          <a:sx n="152" d="100"/>
          <a:sy n="152" d="100"/>
        </p:scale>
        <p:origin x="576"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98526-2F75-DDE2-7161-FAEDA77922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DF9C418-D6D6-FA23-845A-BB7037F65D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CAF440E-D8C0-4779-7AD8-9263CC6E7C9F}"/>
              </a:ext>
            </a:extLst>
          </p:cNvPr>
          <p:cNvSpPr>
            <a:spLocks noGrp="1"/>
          </p:cNvSpPr>
          <p:nvPr>
            <p:ph type="dt" sz="half" idx="10"/>
          </p:nvPr>
        </p:nvSpPr>
        <p:spPr/>
        <p:txBody>
          <a:bodyPr/>
          <a:lstStyle/>
          <a:p>
            <a:fld id="{07BB95E7-0478-4FE5-AA95-BAB252D16A50}" type="datetimeFigureOut">
              <a:rPr lang="en-US" smtClean="0"/>
              <a:t>9/16/2024</a:t>
            </a:fld>
            <a:endParaRPr lang="en-US"/>
          </a:p>
        </p:txBody>
      </p:sp>
      <p:sp>
        <p:nvSpPr>
          <p:cNvPr id="5" name="Footer Placeholder 4">
            <a:extLst>
              <a:ext uri="{FF2B5EF4-FFF2-40B4-BE49-F238E27FC236}">
                <a16:creationId xmlns:a16="http://schemas.microsoft.com/office/drawing/2014/main" id="{FC372148-3E12-07A4-6857-83AF1690D4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47A206-9402-D708-9064-7AE21CF7BFDB}"/>
              </a:ext>
            </a:extLst>
          </p:cNvPr>
          <p:cNvSpPr>
            <a:spLocks noGrp="1"/>
          </p:cNvSpPr>
          <p:nvPr>
            <p:ph type="sldNum" sz="quarter" idx="12"/>
          </p:nvPr>
        </p:nvSpPr>
        <p:spPr/>
        <p:txBody>
          <a:bodyPr/>
          <a:lstStyle/>
          <a:p>
            <a:fld id="{794CA49B-50E1-4134-A165-89C284EFF312}" type="slidenum">
              <a:rPr lang="en-US" smtClean="0"/>
              <a:t>‹#›</a:t>
            </a:fld>
            <a:endParaRPr lang="en-US"/>
          </a:p>
        </p:txBody>
      </p:sp>
    </p:spTree>
    <p:extLst>
      <p:ext uri="{BB962C8B-B14F-4D97-AF65-F5344CB8AC3E}">
        <p14:creationId xmlns:p14="http://schemas.microsoft.com/office/powerpoint/2010/main" val="1248966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F1868-B765-E5EA-2C99-B39A5CE73C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4EE666-D245-9EB8-44DE-473FBFD436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11ECEC-A3E8-5FB8-FBD3-43BCFBE13BEA}"/>
              </a:ext>
            </a:extLst>
          </p:cNvPr>
          <p:cNvSpPr>
            <a:spLocks noGrp="1"/>
          </p:cNvSpPr>
          <p:nvPr>
            <p:ph type="dt" sz="half" idx="10"/>
          </p:nvPr>
        </p:nvSpPr>
        <p:spPr/>
        <p:txBody>
          <a:bodyPr/>
          <a:lstStyle/>
          <a:p>
            <a:fld id="{07BB95E7-0478-4FE5-AA95-BAB252D16A50}" type="datetimeFigureOut">
              <a:rPr lang="en-US" smtClean="0"/>
              <a:t>9/16/2024</a:t>
            </a:fld>
            <a:endParaRPr lang="en-US"/>
          </a:p>
        </p:txBody>
      </p:sp>
      <p:sp>
        <p:nvSpPr>
          <p:cNvPr id="5" name="Footer Placeholder 4">
            <a:extLst>
              <a:ext uri="{FF2B5EF4-FFF2-40B4-BE49-F238E27FC236}">
                <a16:creationId xmlns:a16="http://schemas.microsoft.com/office/drawing/2014/main" id="{DFDEAAC9-F148-464A-5F04-8AFA00711F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7BC75E-0638-9447-B725-7B6CC1F36C4B}"/>
              </a:ext>
            </a:extLst>
          </p:cNvPr>
          <p:cNvSpPr>
            <a:spLocks noGrp="1"/>
          </p:cNvSpPr>
          <p:nvPr>
            <p:ph type="sldNum" sz="quarter" idx="12"/>
          </p:nvPr>
        </p:nvSpPr>
        <p:spPr/>
        <p:txBody>
          <a:bodyPr/>
          <a:lstStyle/>
          <a:p>
            <a:fld id="{794CA49B-50E1-4134-A165-89C284EFF312}" type="slidenum">
              <a:rPr lang="en-US" smtClean="0"/>
              <a:t>‹#›</a:t>
            </a:fld>
            <a:endParaRPr lang="en-US"/>
          </a:p>
        </p:txBody>
      </p:sp>
    </p:spTree>
    <p:extLst>
      <p:ext uri="{BB962C8B-B14F-4D97-AF65-F5344CB8AC3E}">
        <p14:creationId xmlns:p14="http://schemas.microsoft.com/office/powerpoint/2010/main" val="1088352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1ACC7-B445-FD3C-8B25-3542BACFBC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6616537-0652-5DB0-CCB6-1A51BC416D2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A61E5D-7D05-42A7-15EF-59590F97B725}"/>
              </a:ext>
            </a:extLst>
          </p:cNvPr>
          <p:cNvSpPr>
            <a:spLocks noGrp="1"/>
          </p:cNvSpPr>
          <p:nvPr>
            <p:ph type="dt" sz="half" idx="10"/>
          </p:nvPr>
        </p:nvSpPr>
        <p:spPr/>
        <p:txBody>
          <a:bodyPr/>
          <a:lstStyle/>
          <a:p>
            <a:fld id="{07BB95E7-0478-4FE5-AA95-BAB252D16A50}" type="datetimeFigureOut">
              <a:rPr lang="en-US" smtClean="0"/>
              <a:t>9/16/2024</a:t>
            </a:fld>
            <a:endParaRPr lang="en-US"/>
          </a:p>
        </p:txBody>
      </p:sp>
      <p:sp>
        <p:nvSpPr>
          <p:cNvPr id="5" name="Footer Placeholder 4">
            <a:extLst>
              <a:ext uri="{FF2B5EF4-FFF2-40B4-BE49-F238E27FC236}">
                <a16:creationId xmlns:a16="http://schemas.microsoft.com/office/drawing/2014/main" id="{3AB0AA0D-0AA8-2E3B-9219-4233B88626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B3FBA5-BD1A-98DF-3F9D-A65944BB2484}"/>
              </a:ext>
            </a:extLst>
          </p:cNvPr>
          <p:cNvSpPr>
            <a:spLocks noGrp="1"/>
          </p:cNvSpPr>
          <p:nvPr>
            <p:ph type="sldNum" sz="quarter" idx="12"/>
          </p:nvPr>
        </p:nvSpPr>
        <p:spPr/>
        <p:txBody>
          <a:bodyPr/>
          <a:lstStyle/>
          <a:p>
            <a:fld id="{794CA49B-50E1-4134-A165-89C284EFF312}" type="slidenum">
              <a:rPr lang="en-US" smtClean="0"/>
              <a:t>‹#›</a:t>
            </a:fld>
            <a:endParaRPr lang="en-US"/>
          </a:p>
        </p:txBody>
      </p:sp>
    </p:spTree>
    <p:extLst>
      <p:ext uri="{BB962C8B-B14F-4D97-AF65-F5344CB8AC3E}">
        <p14:creationId xmlns:p14="http://schemas.microsoft.com/office/powerpoint/2010/main" val="38511955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F41FC-034F-28FD-0071-592D7DE9DA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5F2BAB-55B0-D16C-03E1-7310BE312A4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944503-DAFF-4E38-F2A7-599C3F20E0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983CBE0-1F0E-4648-7743-86565C3C0FB1}"/>
              </a:ext>
            </a:extLst>
          </p:cNvPr>
          <p:cNvSpPr>
            <a:spLocks noGrp="1"/>
          </p:cNvSpPr>
          <p:nvPr>
            <p:ph type="dt" sz="half" idx="10"/>
          </p:nvPr>
        </p:nvSpPr>
        <p:spPr/>
        <p:txBody>
          <a:bodyPr/>
          <a:lstStyle/>
          <a:p>
            <a:fld id="{07BB95E7-0478-4FE5-AA95-BAB252D16A50}" type="datetimeFigureOut">
              <a:rPr lang="en-US" smtClean="0"/>
              <a:t>9/16/2024</a:t>
            </a:fld>
            <a:endParaRPr lang="en-US"/>
          </a:p>
        </p:txBody>
      </p:sp>
      <p:sp>
        <p:nvSpPr>
          <p:cNvPr id="6" name="Footer Placeholder 5">
            <a:extLst>
              <a:ext uri="{FF2B5EF4-FFF2-40B4-BE49-F238E27FC236}">
                <a16:creationId xmlns:a16="http://schemas.microsoft.com/office/drawing/2014/main" id="{19D67789-497E-7C84-8EB8-03147405CE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57D43D-A76D-963D-CAB1-AA3F62B89234}"/>
              </a:ext>
            </a:extLst>
          </p:cNvPr>
          <p:cNvSpPr>
            <a:spLocks noGrp="1"/>
          </p:cNvSpPr>
          <p:nvPr>
            <p:ph type="sldNum" sz="quarter" idx="12"/>
          </p:nvPr>
        </p:nvSpPr>
        <p:spPr/>
        <p:txBody>
          <a:bodyPr/>
          <a:lstStyle/>
          <a:p>
            <a:fld id="{794CA49B-50E1-4134-A165-89C284EFF312}" type="slidenum">
              <a:rPr lang="en-US" smtClean="0"/>
              <a:t>‹#›</a:t>
            </a:fld>
            <a:endParaRPr lang="en-US"/>
          </a:p>
        </p:txBody>
      </p:sp>
    </p:spTree>
    <p:extLst>
      <p:ext uri="{BB962C8B-B14F-4D97-AF65-F5344CB8AC3E}">
        <p14:creationId xmlns:p14="http://schemas.microsoft.com/office/powerpoint/2010/main" val="934725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6A583-8AC0-F8DB-C882-4E91A762707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6C41371-C5B8-12CF-8A54-73EE91556E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DC23B27-1CA7-8730-F9F2-622417FCA40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3F3DDF5-5383-3378-C66B-16B428AF8E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378C9F-7032-B27E-AF04-D102A46495B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35FCEF4-A5FB-A7A6-5947-5198A8D5CD2E}"/>
              </a:ext>
            </a:extLst>
          </p:cNvPr>
          <p:cNvSpPr>
            <a:spLocks noGrp="1"/>
          </p:cNvSpPr>
          <p:nvPr>
            <p:ph type="dt" sz="half" idx="10"/>
          </p:nvPr>
        </p:nvSpPr>
        <p:spPr/>
        <p:txBody>
          <a:bodyPr/>
          <a:lstStyle/>
          <a:p>
            <a:fld id="{07BB95E7-0478-4FE5-AA95-BAB252D16A50}" type="datetimeFigureOut">
              <a:rPr lang="en-US" smtClean="0"/>
              <a:t>9/16/2024</a:t>
            </a:fld>
            <a:endParaRPr lang="en-US"/>
          </a:p>
        </p:txBody>
      </p:sp>
      <p:sp>
        <p:nvSpPr>
          <p:cNvPr id="8" name="Footer Placeholder 7">
            <a:extLst>
              <a:ext uri="{FF2B5EF4-FFF2-40B4-BE49-F238E27FC236}">
                <a16:creationId xmlns:a16="http://schemas.microsoft.com/office/drawing/2014/main" id="{AE2394BC-D9B7-B127-DB15-0DC58174FC7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454497B-180F-28ED-FDD3-64D2AFBBD1D1}"/>
              </a:ext>
            </a:extLst>
          </p:cNvPr>
          <p:cNvSpPr>
            <a:spLocks noGrp="1"/>
          </p:cNvSpPr>
          <p:nvPr>
            <p:ph type="sldNum" sz="quarter" idx="12"/>
          </p:nvPr>
        </p:nvSpPr>
        <p:spPr/>
        <p:txBody>
          <a:bodyPr/>
          <a:lstStyle/>
          <a:p>
            <a:fld id="{794CA49B-50E1-4134-A165-89C284EFF312}" type="slidenum">
              <a:rPr lang="en-US" smtClean="0"/>
              <a:t>‹#›</a:t>
            </a:fld>
            <a:endParaRPr lang="en-US"/>
          </a:p>
        </p:txBody>
      </p:sp>
    </p:spTree>
    <p:extLst>
      <p:ext uri="{BB962C8B-B14F-4D97-AF65-F5344CB8AC3E}">
        <p14:creationId xmlns:p14="http://schemas.microsoft.com/office/powerpoint/2010/main" val="3173911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1E123-BBA5-121E-76FE-302BD03E5B9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CCDBA08-A777-F9E5-B364-6C5078AE9494}"/>
              </a:ext>
            </a:extLst>
          </p:cNvPr>
          <p:cNvSpPr>
            <a:spLocks noGrp="1"/>
          </p:cNvSpPr>
          <p:nvPr>
            <p:ph type="dt" sz="half" idx="10"/>
          </p:nvPr>
        </p:nvSpPr>
        <p:spPr/>
        <p:txBody>
          <a:bodyPr/>
          <a:lstStyle/>
          <a:p>
            <a:fld id="{07BB95E7-0478-4FE5-AA95-BAB252D16A50}" type="datetimeFigureOut">
              <a:rPr lang="en-US" smtClean="0"/>
              <a:t>9/16/2024</a:t>
            </a:fld>
            <a:endParaRPr lang="en-US"/>
          </a:p>
        </p:txBody>
      </p:sp>
      <p:sp>
        <p:nvSpPr>
          <p:cNvPr id="4" name="Footer Placeholder 3">
            <a:extLst>
              <a:ext uri="{FF2B5EF4-FFF2-40B4-BE49-F238E27FC236}">
                <a16:creationId xmlns:a16="http://schemas.microsoft.com/office/drawing/2014/main" id="{0C480960-1CB2-7B55-635D-D62E7DA0ED4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25B8AB2-7A07-2BA4-5101-12B0F33741A9}"/>
              </a:ext>
            </a:extLst>
          </p:cNvPr>
          <p:cNvSpPr>
            <a:spLocks noGrp="1"/>
          </p:cNvSpPr>
          <p:nvPr>
            <p:ph type="sldNum" sz="quarter" idx="12"/>
          </p:nvPr>
        </p:nvSpPr>
        <p:spPr/>
        <p:txBody>
          <a:bodyPr/>
          <a:lstStyle/>
          <a:p>
            <a:fld id="{794CA49B-50E1-4134-A165-89C284EFF312}" type="slidenum">
              <a:rPr lang="en-US" smtClean="0"/>
              <a:t>‹#›</a:t>
            </a:fld>
            <a:endParaRPr lang="en-US"/>
          </a:p>
        </p:txBody>
      </p:sp>
    </p:spTree>
    <p:extLst>
      <p:ext uri="{BB962C8B-B14F-4D97-AF65-F5344CB8AC3E}">
        <p14:creationId xmlns:p14="http://schemas.microsoft.com/office/powerpoint/2010/main" val="7132188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67F8EE-D774-18B1-AE12-0E923042F5F7}"/>
              </a:ext>
            </a:extLst>
          </p:cNvPr>
          <p:cNvSpPr>
            <a:spLocks noGrp="1"/>
          </p:cNvSpPr>
          <p:nvPr>
            <p:ph type="dt" sz="half" idx="10"/>
          </p:nvPr>
        </p:nvSpPr>
        <p:spPr/>
        <p:txBody>
          <a:bodyPr/>
          <a:lstStyle/>
          <a:p>
            <a:fld id="{07BB95E7-0478-4FE5-AA95-BAB252D16A50}" type="datetimeFigureOut">
              <a:rPr lang="en-US" smtClean="0"/>
              <a:t>9/16/2024</a:t>
            </a:fld>
            <a:endParaRPr lang="en-US"/>
          </a:p>
        </p:txBody>
      </p:sp>
      <p:sp>
        <p:nvSpPr>
          <p:cNvPr id="3" name="Footer Placeholder 2">
            <a:extLst>
              <a:ext uri="{FF2B5EF4-FFF2-40B4-BE49-F238E27FC236}">
                <a16:creationId xmlns:a16="http://schemas.microsoft.com/office/drawing/2014/main" id="{019F6F6B-252F-1A1B-8678-99014030506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58C0A7F-A474-35D5-80E5-C1C503781FA3}"/>
              </a:ext>
            </a:extLst>
          </p:cNvPr>
          <p:cNvSpPr>
            <a:spLocks noGrp="1"/>
          </p:cNvSpPr>
          <p:nvPr>
            <p:ph type="sldNum" sz="quarter" idx="12"/>
          </p:nvPr>
        </p:nvSpPr>
        <p:spPr/>
        <p:txBody>
          <a:bodyPr/>
          <a:lstStyle/>
          <a:p>
            <a:fld id="{794CA49B-50E1-4134-A165-89C284EFF312}" type="slidenum">
              <a:rPr lang="en-US" smtClean="0"/>
              <a:t>‹#›</a:t>
            </a:fld>
            <a:endParaRPr lang="en-US"/>
          </a:p>
        </p:txBody>
      </p:sp>
    </p:spTree>
    <p:extLst>
      <p:ext uri="{BB962C8B-B14F-4D97-AF65-F5344CB8AC3E}">
        <p14:creationId xmlns:p14="http://schemas.microsoft.com/office/powerpoint/2010/main" val="6754797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14E80-F678-432B-0E98-38FB5E4138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77C3E82-547E-5B21-429D-CD64BB72B0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774DC0-4053-5979-CEF8-107B747C2E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67340F-6F06-FF7F-BC89-F15A43C801FC}"/>
              </a:ext>
            </a:extLst>
          </p:cNvPr>
          <p:cNvSpPr>
            <a:spLocks noGrp="1"/>
          </p:cNvSpPr>
          <p:nvPr>
            <p:ph type="dt" sz="half" idx="10"/>
          </p:nvPr>
        </p:nvSpPr>
        <p:spPr/>
        <p:txBody>
          <a:bodyPr/>
          <a:lstStyle/>
          <a:p>
            <a:fld id="{07BB95E7-0478-4FE5-AA95-BAB252D16A50}" type="datetimeFigureOut">
              <a:rPr lang="en-US" smtClean="0"/>
              <a:t>9/16/2024</a:t>
            </a:fld>
            <a:endParaRPr lang="en-US"/>
          </a:p>
        </p:txBody>
      </p:sp>
      <p:sp>
        <p:nvSpPr>
          <p:cNvPr id="6" name="Footer Placeholder 5">
            <a:extLst>
              <a:ext uri="{FF2B5EF4-FFF2-40B4-BE49-F238E27FC236}">
                <a16:creationId xmlns:a16="http://schemas.microsoft.com/office/drawing/2014/main" id="{79D28666-3CCD-0970-C6C3-66B628F308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0F4E4D-8729-1385-FB4A-E06B55244E28}"/>
              </a:ext>
            </a:extLst>
          </p:cNvPr>
          <p:cNvSpPr>
            <a:spLocks noGrp="1"/>
          </p:cNvSpPr>
          <p:nvPr>
            <p:ph type="sldNum" sz="quarter" idx="12"/>
          </p:nvPr>
        </p:nvSpPr>
        <p:spPr/>
        <p:txBody>
          <a:bodyPr/>
          <a:lstStyle/>
          <a:p>
            <a:fld id="{794CA49B-50E1-4134-A165-89C284EFF312}" type="slidenum">
              <a:rPr lang="en-US" smtClean="0"/>
              <a:t>‹#›</a:t>
            </a:fld>
            <a:endParaRPr lang="en-US"/>
          </a:p>
        </p:txBody>
      </p:sp>
    </p:spTree>
    <p:extLst>
      <p:ext uri="{BB962C8B-B14F-4D97-AF65-F5344CB8AC3E}">
        <p14:creationId xmlns:p14="http://schemas.microsoft.com/office/powerpoint/2010/main" val="3434864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8BB51-0F75-688C-047B-9802C34E5F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D81DD19-E09A-DE2A-0948-4DD744563A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078B689-CB86-CE93-5197-7C8514B90E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331CDA-000F-9C09-D49E-878BBB8885DA}"/>
              </a:ext>
            </a:extLst>
          </p:cNvPr>
          <p:cNvSpPr>
            <a:spLocks noGrp="1"/>
          </p:cNvSpPr>
          <p:nvPr>
            <p:ph type="dt" sz="half" idx="10"/>
          </p:nvPr>
        </p:nvSpPr>
        <p:spPr/>
        <p:txBody>
          <a:bodyPr/>
          <a:lstStyle/>
          <a:p>
            <a:fld id="{07BB95E7-0478-4FE5-AA95-BAB252D16A50}" type="datetimeFigureOut">
              <a:rPr lang="en-US" smtClean="0"/>
              <a:t>9/16/2024</a:t>
            </a:fld>
            <a:endParaRPr lang="en-US"/>
          </a:p>
        </p:txBody>
      </p:sp>
      <p:sp>
        <p:nvSpPr>
          <p:cNvPr id="6" name="Footer Placeholder 5">
            <a:extLst>
              <a:ext uri="{FF2B5EF4-FFF2-40B4-BE49-F238E27FC236}">
                <a16:creationId xmlns:a16="http://schemas.microsoft.com/office/drawing/2014/main" id="{16E5BCF4-8DFB-B36B-B1FC-E7B6255247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737C15-2E95-BEDE-667B-112A6A7A5692}"/>
              </a:ext>
            </a:extLst>
          </p:cNvPr>
          <p:cNvSpPr>
            <a:spLocks noGrp="1"/>
          </p:cNvSpPr>
          <p:nvPr>
            <p:ph type="sldNum" sz="quarter" idx="12"/>
          </p:nvPr>
        </p:nvSpPr>
        <p:spPr/>
        <p:txBody>
          <a:bodyPr/>
          <a:lstStyle/>
          <a:p>
            <a:fld id="{794CA49B-50E1-4134-A165-89C284EFF312}" type="slidenum">
              <a:rPr lang="en-US" smtClean="0"/>
              <a:t>‹#›</a:t>
            </a:fld>
            <a:endParaRPr lang="en-US"/>
          </a:p>
        </p:txBody>
      </p:sp>
    </p:spTree>
    <p:extLst>
      <p:ext uri="{BB962C8B-B14F-4D97-AF65-F5344CB8AC3E}">
        <p14:creationId xmlns:p14="http://schemas.microsoft.com/office/powerpoint/2010/main" val="859759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205F-080E-0BEC-69AB-926DFA36ADA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C2AEFC-7105-61E7-71F1-D2A8E6418E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89818B-35C1-1C57-FDDD-F4FC1CD29CF5}"/>
              </a:ext>
            </a:extLst>
          </p:cNvPr>
          <p:cNvSpPr>
            <a:spLocks noGrp="1"/>
          </p:cNvSpPr>
          <p:nvPr>
            <p:ph type="dt" sz="half" idx="10"/>
          </p:nvPr>
        </p:nvSpPr>
        <p:spPr/>
        <p:txBody>
          <a:bodyPr/>
          <a:lstStyle/>
          <a:p>
            <a:fld id="{07BB95E7-0478-4FE5-AA95-BAB252D16A50}" type="datetimeFigureOut">
              <a:rPr lang="en-US" smtClean="0"/>
              <a:t>9/16/2024</a:t>
            </a:fld>
            <a:endParaRPr lang="en-US"/>
          </a:p>
        </p:txBody>
      </p:sp>
      <p:sp>
        <p:nvSpPr>
          <p:cNvPr id="5" name="Footer Placeholder 4">
            <a:extLst>
              <a:ext uri="{FF2B5EF4-FFF2-40B4-BE49-F238E27FC236}">
                <a16:creationId xmlns:a16="http://schemas.microsoft.com/office/drawing/2014/main" id="{AFE705DB-9058-B6CA-FBA0-9E10111372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AFDF16-B2E9-D21E-6224-D95DB2E74DE9}"/>
              </a:ext>
            </a:extLst>
          </p:cNvPr>
          <p:cNvSpPr>
            <a:spLocks noGrp="1"/>
          </p:cNvSpPr>
          <p:nvPr>
            <p:ph type="sldNum" sz="quarter" idx="12"/>
          </p:nvPr>
        </p:nvSpPr>
        <p:spPr/>
        <p:txBody>
          <a:bodyPr/>
          <a:lstStyle/>
          <a:p>
            <a:fld id="{794CA49B-50E1-4134-A165-89C284EFF312}" type="slidenum">
              <a:rPr lang="en-US" smtClean="0"/>
              <a:t>‹#›</a:t>
            </a:fld>
            <a:endParaRPr lang="en-US"/>
          </a:p>
        </p:txBody>
      </p:sp>
    </p:spTree>
    <p:extLst>
      <p:ext uri="{BB962C8B-B14F-4D97-AF65-F5344CB8AC3E}">
        <p14:creationId xmlns:p14="http://schemas.microsoft.com/office/powerpoint/2010/main" val="32517014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AD1A2F-E921-206A-F923-369C4522691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1F16D4B-D81D-F572-1A34-C997DD23D6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776740-C521-0CA4-C025-E2CA62B374D5}"/>
              </a:ext>
            </a:extLst>
          </p:cNvPr>
          <p:cNvSpPr>
            <a:spLocks noGrp="1"/>
          </p:cNvSpPr>
          <p:nvPr>
            <p:ph type="dt" sz="half" idx="10"/>
          </p:nvPr>
        </p:nvSpPr>
        <p:spPr/>
        <p:txBody>
          <a:bodyPr/>
          <a:lstStyle/>
          <a:p>
            <a:fld id="{07BB95E7-0478-4FE5-AA95-BAB252D16A50}" type="datetimeFigureOut">
              <a:rPr lang="en-US" smtClean="0"/>
              <a:t>9/16/2024</a:t>
            </a:fld>
            <a:endParaRPr lang="en-US"/>
          </a:p>
        </p:txBody>
      </p:sp>
      <p:sp>
        <p:nvSpPr>
          <p:cNvPr id="5" name="Footer Placeholder 4">
            <a:extLst>
              <a:ext uri="{FF2B5EF4-FFF2-40B4-BE49-F238E27FC236}">
                <a16:creationId xmlns:a16="http://schemas.microsoft.com/office/drawing/2014/main" id="{AE10369E-3941-D1B7-B0D0-4AF5E5E2B3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31C173-0D51-163B-D6BA-3DBF5BBB37E3}"/>
              </a:ext>
            </a:extLst>
          </p:cNvPr>
          <p:cNvSpPr>
            <a:spLocks noGrp="1"/>
          </p:cNvSpPr>
          <p:nvPr>
            <p:ph type="sldNum" sz="quarter" idx="12"/>
          </p:nvPr>
        </p:nvSpPr>
        <p:spPr/>
        <p:txBody>
          <a:bodyPr/>
          <a:lstStyle/>
          <a:p>
            <a:fld id="{794CA49B-50E1-4134-A165-89C284EFF312}" type="slidenum">
              <a:rPr lang="en-US" smtClean="0"/>
              <a:t>‹#›</a:t>
            </a:fld>
            <a:endParaRPr lang="en-US"/>
          </a:p>
        </p:txBody>
      </p:sp>
    </p:spTree>
    <p:extLst>
      <p:ext uri="{BB962C8B-B14F-4D97-AF65-F5344CB8AC3E}">
        <p14:creationId xmlns:p14="http://schemas.microsoft.com/office/powerpoint/2010/main" val="23105823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B4B4EE-2C65-1B29-DCC3-AFB390A4C3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95E81E1-1F91-444B-F38E-7FA8ACF22D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0A4097-E8E4-3AA9-B6BA-97E945DD5D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7BB95E7-0478-4FE5-AA95-BAB252D16A50}" type="datetimeFigureOut">
              <a:rPr lang="en-US" smtClean="0"/>
              <a:t>9/16/2024</a:t>
            </a:fld>
            <a:endParaRPr lang="en-US"/>
          </a:p>
        </p:txBody>
      </p:sp>
      <p:sp>
        <p:nvSpPr>
          <p:cNvPr id="5" name="Footer Placeholder 4">
            <a:extLst>
              <a:ext uri="{FF2B5EF4-FFF2-40B4-BE49-F238E27FC236}">
                <a16:creationId xmlns:a16="http://schemas.microsoft.com/office/drawing/2014/main" id="{C54BB745-30F7-6BF9-AB72-A447E9770D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3C6A809-287C-3D82-D3B0-7370D3C230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94CA49B-50E1-4134-A165-89C284EFF312}" type="slidenum">
              <a:rPr lang="en-US" smtClean="0"/>
              <a:t>‹#›</a:t>
            </a:fld>
            <a:endParaRPr lang="en-US"/>
          </a:p>
        </p:txBody>
      </p:sp>
    </p:spTree>
    <p:extLst>
      <p:ext uri="{BB962C8B-B14F-4D97-AF65-F5344CB8AC3E}">
        <p14:creationId xmlns:p14="http://schemas.microsoft.com/office/powerpoint/2010/main" val="22878823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code.visualstudio.com/download" TargetMode="External"/><Relationship Id="rId2" Type="http://schemas.openxmlformats.org/officeDocument/2006/relationships/hyperlink" Target="https://www.eclipse.org/downloads/"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3FF8F2EF-CB15-87FB-F2D9-5499A4679B3F}"/>
              </a:ext>
            </a:extLst>
          </p:cNvPr>
          <p:cNvSpPr>
            <a:spLocks noGrp="1"/>
          </p:cNvSpPr>
          <p:nvPr>
            <p:ph type="ctrTitle"/>
          </p:nvPr>
        </p:nvSpPr>
        <p:spPr>
          <a:xfrm>
            <a:off x="1314824" y="735106"/>
            <a:ext cx="10053763" cy="2928470"/>
          </a:xfrm>
        </p:spPr>
        <p:txBody>
          <a:bodyPr anchor="b">
            <a:normAutofit/>
          </a:bodyPr>
          <a:lstStyle/>
          <a:p>
            <a:pPr algn="l"/>
            <a:r>
              <a:rPr lang="it-IT" sz="4800" b="0" i="0">
                <a:solidFill>
                  <a:srgbClr val="FFFFFF"/>
                </a:solidFill>
                <a:effectLst/>
                <a:latin typeface="Google Sans"/>
              </a:rPr>
              <a:t>I&amp;C SCI X460.17 Java Programming</a:t>
            </a:r>
            <a:endParaRPr lang="en-US" sz="4800">
              <a:solidFill>
                <a:srgbClr val="FFFFFF"/>
              </a:solidFill>
            </a:endParaRPr>
          </a:p>
        </p:txBody>
      </p:sp>
      <p:sp>
        <p:nvSpPr>
          <p:cNvPr id="3" name="Subtitle 2">
            <a:extLst>
              <a:ext uri="{FF2B5EF4-FFF2-40B4-BE49-F238E27FC236}">
                <a16:creationId xmlns:a16="http://schemas.microsoft.com/office/drawing/2014/main" id="{AD394EAC-8E76-08BE-2BD0-036C0D36F909}"/>
              </a:ext>
            </a:extLst>
          </p:cNvPr>
          <p:cNvSpPr>
            <a:spLocks noGrp="1"/>
          </p:cNvSpPr>
          <p:nvPr>
            <p:ph type="subTitle" idx="1"/>
          </p:nvPr>
        </p:nvSpPr>
        <p:spPr>
          <a:xfrm>
            <a:off x="1350682" y="4870824"/>
            <a:ext cx="10005951" cy="1458258"/>
          </a:xfrm>
        </p:spPr>
        <p:txBody>
          <a:bodyPr anchor="ctr">
            <a:normAutofit/>
          </a:bodyPr>
          <a:lstStyle/>
          <a:p>
            <a:pPr algn="l"/>
            <a:r>
              <a:rPr lang="en-US" dirty="0"/>
              <a:t>Samuel Addington</a:t>
            </a:r>
            <a:endParaRPr lang="en-US"/>
          </a:p>
        </p:txBody>
      </p:sp>
    </p:spTree>
    <p:extLst>
      <p:ext uri="{BB962C8B-B14F-4D97-AF65-F5344CB8AC3E}">
        <p14:creationId xmlns:p14="http://schemas.microsoft.com/office/powerpoint/2010/main" val="1411482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625436-4FA2-B917-A2CA-F2F0A41184C8}"/>
              </a:ext>
            </a:extLst>
          </p:cNvPr>
          <p:cNvSpPr>
            <a:spLocks noGrp="1"/>
          </p:cNvSpPr>
          <p:nvPr>
            <p:ph type="title"/>
          </p:nvPr>
        </p:nvSpPr>
        <p:spPr>
          <a:xfrm>
            <a:off x="1371599" y="294538"/>
            <a:ext cx="9895951" cy="1033669"/>
          </a:xfrm>
        </p:spPr>
        <p:txBody>
          <a:bodyPr>
            <a:normAutofit/>
          </a:bodyPr>
          <a:lstStyle/>
          <a:p>
            <a:r>
              <a:rPr lang="en-US" sz="4000" b="1" i="0" u="none" strike="noStrike">
                <a:solidFill>
                  <a:srgbClr val="FFFFFF"/>
                </a:solidFill>
                <a:effectLst/>
                <a:latin typeface="Calibri" panose="020F0502020204030204" pitchFamily="34" charset="0"/>
              </a:rPr>
              <a:t>Course Description</a:t>
            </a:r>
            <a:endParaRPr lang="en-US" sz="4000">
              <a:solidFill>
                <a:srgbClr val="FFFFFF"/>
              </a:solidFill>
            </a:endParaRPr>
          </a:p>
        </p:txBody>
      </p:sp>
      <p:sp>
        <p:nvSpPr>
          <p:cNvPr id="3" name="Content Placeholder 2">
            <a:extLst>
              <a:ext uri="{FF2B5EF4-FFF2-40B4-BE49-F238E27FC236}">
                <a16:creationId xmlns:a16="http://schemas.microsoft.com/office/drawing/2014/main" id="{117DC84C-D239-98B2-F14F-A2EE2E7A1E83}"/>
              </a:ext>
            </a:extLst>
          </p:cNvPr>
          <p:cNvSpPr>
            <a:spLocks noGrp="1"/>
          </p:cNvSpPr>
          <p:nvPr>
            <p:ph idx="1"/>
          </p:nvPr>
        </p:nvSpPr>
        <p:spPr>
          <a:xfrm>
            <a:off x="1371599" y="2318197"/>
            <a:ext cx="9724031" cy="3683358"/>
          </a:xfrm>
        </p:spPr>
        <p:txBody>
          <a:bodyPr anchor="ctr">
            <a:noAutofit/>
          </a:bodyPr>
          <a:lstStyle/>
          <a:p>
            <a:r>
              <a:rPr lang="en-US" sz="2400" b="0" i="0" dirty="0">
                <a:effectLst/>
                <a:latin typeface="Calibri" panose="020F0502020204030204" pitchFamily="34" charset="0"/>
              </a:rPr>
              <a:t>Java is a general-purpose computer-programming language that is concurrent, class-based, object-oriented, and specifically designed to let application developers "</a:t>
            </a:r>
            <a:r>
              <a:rPr lang="en-US" sz="2400" b="0" i="0" dirty="0">
                <a:solidFill>
                  <a:srgbClr val="FF0000"/>
                </a:solidFill>
                <a:effectLst/>
                <a:latin typeface="Calibri" panose="020F0502020204030204" pitchFamily="34" charset="0"/>
              </a:rPr>
              <a:t>write once, run anywhere</a:t>
            </a:r>
            <a:r>
              <a:rPr lang="en-US" sz="2400" b="0" i="0" dirty="0">
                <a:effectLst/>
                <a:latin typeface="Calibri" panose="020F0502020204030204" pitchFamily="34" charset="0"/>
              </a:rPr>
              <a:t>" (WORA), meaning that compiled Java code can run on all platforms that support Java without the need for recompilation. </a:t>
            </a:r>
          </a:p>
          <a:p>
            <a:r>
              <a:rPr lang="en-US" sz="2400" b="0" i="0" dirty="0">
                <a:effectLst/>
                <a:latin typeface="Calibri" panose="020F0502020204030204" pitchFamily="34" charset="0"/>
              </a:rPr>
              <a:t>This course covers core language concepts including fundamental data types, flow control, standard function libraries, class and object design, inheritance, polymorphism, error handling, and file I/O.  </a:t>
            </a:r>
          </a:p>
          <a:p>
            <a:r>
              <a:rPr lang="en-US" sz="2400" b="0" i="0" dirty="0">
                <a:effectLst/>
                <a:latin typeface="Calibri" panose="020F0502020204030204" pitchFamily="34" charset="0"/>
              </a:rPr>
              <a:t>Object-oriented programming and modular design will be emphasized to support distributed development environments. Students will gain knowledge and experience in writing and designing programs using Java through hands-on exercises.</a:t>
            </a:r>
            <a:endParaRPr lang="en-US" sz="2400" dirty="0"/>
          </a:p>
        </p:txBody>
      </p:sp>
    </p:spTree>
    <p:extLst>
      <p:ext uri="{BB962C8B-B14F-4D97-AF65-F5344CB8AC3E}">
        <p14:creationId xmlns:p14="http://schemas.microsoft.com/office/powerpoint/2010/main" val="41343194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3FE419-76E9-0CE6-7772-3D5B016D3ACA}"/>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Prerequisites</a:t>
            </a:r>
          </a:p>
        </p:txBody>
      </p:sp>
      <p:sp>
        <p:nvSpPr>
          <p:cNvPr id="3" name="Content Placeholder 2">
            <a:extLst>
              <a:ext uri="{FF2B5EF4-FFF2-40B4-BE49-F238E27FC236}">
                <a16:creationId xmlns:a16="http://schemas.microsoft.com/office/drawing/2014/main" id="{34451804-52CE-D7E6-F6BE-1E6801862F02}"/>
              </a:ext>
            </a:extLst>
          </p:cNvPr>
          <p:cNvSpPr>
            <a:spLocks noGrp="1"/>
          </p:cNvSpPr>
          <p:nvPr>
            <p:ph idx="1"/>
          </p:nvPr>
        </p:nvSpPr>
        <p:spPr>
          <a:xfrm>
            <a:off x="1371599" y="2318197"/>
            <a:ext cx="9724031" cy="3683358"/>
          </a:xfrm>
        </p:spPr>
        <p:txBody>
          <a:bodyPr anchor="ctr">
            <a:normAutofit/>
          </a:bodyPr>
          <a:lstStyle/>
          <a:p>
            <a:r>
              <a:rPr lang="en-US" sz="2400" dirty="0"/>
              <a:t>You should have general familiarity with your operating system environment; additionally, the ability to create and edit text files is necessary. </a:t>
            </a:r>
          </a:p>
          <a:p>
            <a:r>
              <a:rPr lang="en-US" sz="2400" dirty="0"/>
              <a:t>For those with no previous programming experience, successful completion of an introduction to programming  is required.</a:t>
            </a:r>
          </a:p>
        </p:txBody>
      </p:sp>
    </p:spTree>
    <p:extLst>
      <p:ext uri="{BB962C8B-B14F-4D97-AF65-F5344CB8AC3E}">
        <p14:creationId xmlns:p14="http://schemas.microsoft.com/office/powerpoint/2010/main" val="28091220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D18331-CDCF-EBED-C3CB-C27D18017E7C}"/>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Course Objectives</a:t>
            </a:r>
          </a:p>
        </p:txBody>
      </p:sp>
      <p:sp>
        <p:nvSpPr>
          <p:cNvPr id="3" name="Content Placeholder 2">
            <a:extLst>
              <a:ext uri="{FF2B5EF4-FFF2-40B4-BE49-F238E27FC236}">
                <a16:creationId xmlns:a16="http://schemas.microsoft.com/office/drawing/2014/main" id="{74CBC51A-244E-8CEB-68B3-B5ADBC8BF0FE}"/>
              </a:ext>
            </a:extLst>
          </p:cNvPr>
          <p:cNvSpPr>
            <a:spLocks noGrp="1"/>
          </p:cNvSpPr>
          <p:nvPr>
            <p:ph idx="1"/>
          </p:nvPr>
        </p:nvSpPr>
        <p:spPr>
          <a:xfrm>
            <a:off x="505097" y="1833154"/>
            <a:ext cx="11303726" cy="4730308"/>
          </a:xfrm>
        </p:spPr>
        <p:txBody>
          <a:bodyPr anchor="ctr">
            <a:noAutofit/>
          </a:bodyPr>
          <a:lstStyle/>
          <a:p>
            <a:pPr marL="0" indent="0">
              <a:buNone/>
            </a:pPr>
            <a:r>
              <a:rPr lang="en-US" sz="2000" dirty="0"/>
              <a:t>At the end of this course, students will learn the concepts of and be able to:</a:t>
            </a:r>
          </a:p>
          <a:p>
            <a:pPr lvl="1"/>
            <a:r>
              <a:rPr lang="en-US" sz="2000" dirty="0"/>
              <a:t>Develop Java programs that are easy to debug and maintain</a:t>
            </a:r>
          </a:p>
          <a:p>
            <a:pPr lvl="1"/>
            <a:r>
              <a:rPr lang="en-US" sz="2000" dirty="0"/>
              <a:t>Use an IDE to build Java programs using standard Java libraries</a:t>
            </a:r>
          </a:p>
          <a:p>
            <a:pPr lvl="1"/>
            <a:r>
              <a:rPr lang="en-US" sz="2000" dirty="0"/>
              <a:t>Design object-oriented applications with Java</a:t>
            </a:r>
          </a:p>
          <a:p>
            <a:pPr lvl="1"/>
            <a:r>
              <a:rPr lang="en-US" sz="2000" dirty="0"/>
              <a:t>Employ concepts of object-oriented programming such as encapsulation, inheritance, overriding, and polymorphism</a:t>
            </a:r>
          </a:p>
          <a:p>
            <a:pPr lvl="1"/>
            <a:r>
              <a:rPr lang="en-US" sz="2000" dirty="0"/>
              <a:t>Error handling with exceptions</a:t>
            </a:r>
          </a:p>
          <a:p>
            <a:pPr lvl="1"/>
            <a:r>
              <a:rPr lang="en-US" sz="2000" dirty="0"/>
              <a:t>Store and retrieve data with file handling</a:t>
            </a:r>
          </a:p>
          <a:p>
            <a:pPr lvl="1"/>
            <a:r>
              <a:rPr lang="en-US" sz="2000" dirty="0"/>
              <a:t>Design graphical user interface</a:t>
            </a:r>
          </a:p>
          <a:p>
            <a:pPr lvl="1"/>
            <a:r>
              <a:rPr lang="en-US" sz="2000" dirty="0"/>
              <a:t>Design programs that run with concurrency</a:t>
            </a:r>
          </a:p>
          <a:p>
            <a:pPr lvl="1"/>
            <a:r>
              <a:rPr lang="en-US" sz="2000" dirty="0"/>
              <a:t>Design platform modules</a:t>
            </a:r>
          </a:p>
          <a:p>
            <a:pPr lvl="1"/>
            <a:r>
              <a:rPr lang="en-US" sz="2000" dirty="0"/>
              <a:t>Use command line tools</a:t>
            </a:r>
          </a:p>
          <a:p>
            <a:pPr lvl="1"/>
            <a:r>
              <a:rPr lang="en-US" sz="2000" dirty="0"/>
              <a:t>Debug Java programs</a:t>
            </a:r>
          </a:p>
        </p:txBody>
      </p:sp>
    </p:spTree>
    <p:extLst>
      <p:ext uri="{BB962C8B-B14F-4D97-AF65-F5344CB8AC3E}">
        <p14:creationId xmlns:p14="http://schemas.microsoft.com/office/powerpoint/2010/main" val="1786326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029D8C-C8CE-9140-625A-3F594E2365CE}"/>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Course Material</a:t>
            </a:r>
          </a:p>
        </p:txBody>
      </p:sp>
      <p:sp>
        <p:nvSpPr>
          <p:cNvPr id="3" name="Content Placeholder 2">
            <a:extLst>
              <a:ext uri="{FF2B5EF4-FFF2-40B4-BE49-F238E27FC236}">
                <a16:creationId xmlns:a16="http://schemas.microsoft.com/office/drawing/2014/main" id="{F300DB64-9C50-C086-FBCF-30C02CC27C1E}"/>
              </a:ext>
            </a:extLst>
          </p:cNvPr>
          <p:cNvSpPr>
            <a:spLocks noGrp="1"/>
          </p:cNvSpPr>
          <p:nvPr>
            <p:ph idx="1"/>
          </p:nvPr>
        </p:nvSpPr>
        <p:spPr>
          <a:xfrm>
            <a:off x="1371599" y="2318197"/>
            <a:ext cx="9724031" cy="3683358"/>
          </a:xfrm>
        </p:spPr>
        <p:txBody>
          <a:bodyPr anchor="ctr">
            <a:normAutofit/>
          </a:bodyPr>
          <a:lstStyle/>
          <a:p>
            <a:r>
              <a:rPr lang="en-US" sz="2400" dirty="0"/>
              <a:t>The following is the required textbook for this course:</a:t>
            </a:r>
          </a:p>
          <a:p>
            <a:pPr marL="0" indent="0">
              <a:buNone/>
            </a:pPr>
            <a:endParaRPr lang="en-US" sz="2400" dirty="0"/>
          </a:p>
          <a:p>
            <a:pPr marL="0" indent="0">
              <a:buNone/>
            </a:pPr>
            <a:r>
              <a:rPr lang="en-US" sz="2400" dirty="0"/>
              <a:t>Core Java, Volume 1: Fundamentals, 12th edition. </a:t>
            </a:r>
            <a:r>
              <a:rPr lang="en-US" sz="2400" dirty="0" err="1"/>
              <a:t>Horstmann</a:t>
            </a:r>
            <a:r>
              <a:rPr lang="en-US" sz="2400" dirty="0"/>
              <a:t>, Cay.  Oracle Press, December 2021.   ISBN: 978-0137673629</a:t>
            </a:r>
          </a:p>
        </p:txBody>
      </p:sp>
    </p:spTree>
    <p:extLst>
      <p:ext uri="{BB962C8B-B14F-4D97-AF65-F5344CB8AC3E}">
        <p14:creationId xmlns:p14="http://schemas.microsoft.com/office/powerpoint/2010/main" val="1765756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961F4F-E8C7-EF70-7FCF-F321C6511DBD}"/>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Editor, Compiler, IDE</a:t>
            </a:r>
          </a:p>
        </p:txBody>
      </p:sp>
      <p:sp>
        <p:nvSpPr>
          <p:cNvPr id="3" name="Content Placeholder 2">
            <a:extLst>
              <a:ext uri="{FF2B5EF4-FFF2-40B4-BE49-F238E27FC236}">
                <a16:creationId xmlns:a16="http://schemas.microsoft.com/office/drawing/2014/main" id="{92085191-1C9E-C085-0A69-DAC81B3EFBAD}"/>
              </a:ext>
            </a:extLst>
          </p:cNvPr>
          <p:cNvSpPr>
            <a:spLocks noGrp="1"/>
          </p:cNvSpPr>
          <p:nvPr>
            <p:ph idx="1"/>
          </p:nvPr>
        </p:nvSpPr>
        <p:spPr>
          <a:xfrm>
            <a:off x="1371599" y="2318197"/>
            <a:ext cx="9724031" cy="3683358"/>
          </a:xfrm>
        </p:spPr>
        <p:txBody>
          <a:bodyPr anchor="ctr">
            <a:normAutofit/>
          </a:bodyPr>
          <a:lstStyle/>
          <a:p>
            <a:r>
              <a:rPr lang="en-US" sz="2400" dirty="0"/>
              <a:t>Eclipse IDE is highly recommended to use for this course. The download is at: </a:t>
            </a:r>
            <a:r>
              <a:rPr lang="en-US" sz="2400" dirty="0">
                <a:hlinkClick r:id="rId2"/>
              </a:rPr>
              <a:t>https://www.eclipse.org/downloads/</a:t>
            </a:r>
            <a:r>
              <a:rPr lang="en-US" sz="2400" dirty="0"/>
              <a:t> </a:t>
            </a:r>
          </a:p>
          <a:p>
            <a:r>
              <a:rPr lang="en-US" sz="2400" dirty="0"/>
              <a:t>Visual Studio Code is also recommended  to use. The download is at  </a:t>
            </a:r>
            <a:r>
              <a:rPr lang="en-US" sz="2400" dirty="0">
                <a:hlinkClick r:id="rId3"/>
              </a:rPr>
              <a:t>https://code.visualstudio.com/download</a:t>
            </a:r>
            <a:r>
              <a:rPr lang="en-US" sz="2400" dirty="0"/>
              <a:t> </a:t>
            </a:r>
          </a:p>
        </p:txBody>
      </p:sp>
    </p:spTree>
    <p:extLst>
      <p:ext uri="{BB962C8B-B14F-4D97-AF65-F5344CB8AC3E}">
        <p14:creationId xmlns:p14="http://schemas.microsoft.com/office/powerpoint/2010/main" val="2551290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33050D5-E3EF-6957-9622-7C3AB275C06F}"/>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Evaluation and Grading</a:t>
            </a:r>
          </a:p>
        </p:txBody>
      </p:sp>
      <p:graphicFrame>
        <p:nvGraphicFramePr>
          <p:cNvPr id="4" name="Content Placeholder 3">
            <a:extLst>
              <a:ext uri="{FF2B5EF4-FFF2-40B4-BE49-F238E27FC236}">
                <a16:creationId xmlns:a16="http://schemas.microsoft.com/office/drawing/2014/main" id="{14F779F5-4C58-157E-6ED6-9FDEB2CA6612}"/>
              </a:ext>
            </a:extLst>
          </p:cNvPr>
          <p:cNvGraphicFramePr>
            <a:graphicFrameLocks noGrp="1"/>
          </p:cNvGraphicFramePr>
          <p:nvPr>
            <p:ph idx="1"/>
            <p:extLst>
              <p:ext uri="{D42A27DB-BD31-4B8C-83A1-F6EECF244321}">
                <p14:modId xmlns:p14="http://schemas.microsoft.com/office/powerpoint/2010/main" val="4117502402"/>
              </p:ext>
            </p:extLst>
          </p:nvPr>
        </p:nvGraphicFramePr>
        <p:xfrm>
          <a:off x="2926157" y="2658311"/>
          <a:ext cx="6363627" cy="3101340"/>
        </p:xfrm>
        <a:graphic>
          <a:graphicData uri="http://schemas.openxmlformats.org/drawingml/2006/table">
            <a:tbl>
              <a:tblPr firstRow="1" bandRow="1"/>
              <a:tblGrid>
                <a:gridCol w="4227381">
                  <a:extLst>
                    <a:ext uri="{9D8B030D-6E8A-4147-A177-3AD203B41FA5}">
                      <a16:colId xmlns:a16="http://schemas.microsoft.com/office/drawing/2014/main" val="1357239827"/>
                    </a:ext>
                  </a:extLst>
                </a:gridCol>
                <a:gridCol w="2136246">
                  <a:extLst>
                    <a:ext uri="{9D8B030D-6E8A-4147-A177-3AD203B41FA5}">
                      <a16:colId xmlns:a16="http://schemas.microsoft.com/office/drawing/2014/main" val="2427761965"/>
                    </a:ext>
                  </a:extLst>
                </a:gridCol>
              </a:tblGrid>
              <a:tr h="620268">
                <a:tc>
                  <a:txBody>
                    <a:bodyPr/>
                    <a:lstStyle/>
                    <a:p>
                      <a:pPr algn="l" fontAlgn="b"/>
                      <a:r>
                        <a:rPr lang="en-US" sz="3300" b="1" i="0" u="none" strike="noStrike">
                          <a:solidFill>
                            <a:srgbClr val="000000"/>
                          </a:solidFill>
                          <a:effectLst/>
                          <a:latin typeface="Calibri" panose="020F0502020204030204" pitchFamily="34" charset="0"/>
                        </a:rPr>
                        <a:t> Assignments</a:t>
                      </a:r>
                      <a:endParaRPr lang="en-US" sz="3300">
                        <a:solidFill>
                          <a:srgbClr val="000000"/>
                        </a:solidFill>
                        <a:effectLst/>
                        <a:latin typeface="Calibri" panose="020F0502020204030204" pitchFamily="34" charset="0"/>
                      </a:endParaRPr>
                    </a:p>
                  </a:txBody>
                  <a:tcPr marL="67522" marR="67522" marT="41910" marB="4191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r>
                        <a:rPr lang="en-US" sz="3300" b="1" i="0" u="none" strike="noStrike">
                          <a:solidFill>
                            <a:srgbClr val="000000"/>
                          </a:solidFill>
                          <a:effectLst/>
                          <a:latin typeface="Calibri" panose="020F0502020204030204" pitchFamily="34" charset="0"/>
                        </a:rPr>
                        <a:t>% of grade</a:t>
                      </a:r>
                      <a:endParaRPr lang="en-US" sz="3300">
                        <a:solidFill>
                          <a:srgbClr val="000000"/>
                        </a:solidFill>
                        <a:effectLst/>
                        <a:latin typeface="Calibri" panose="020F0502020204030204" pitchFamily="34" charset="0"/>
                      </a:endParaRPr>
                    </a:p>
                  </a:txBody>
                  <a:tcPr marL="67522" marR="67522" marT="41910" marB="4191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843840944"/>
                  </a:ext>
                </a:extLst>
              </a:tr>
              <a:tr h="620268">
                <a:tc>
                  <a:txBody>
                    <a:bodyPr/>
                    <a:lstStyle/>
                    <a:p>
                      <a:pPr algn="l" fontAlgn="b"/>
                      <a:r>
                        <a:rPr lang="en-US" sz="3300" b="0" i="0" u="none" strike="noStrike">
                          <a:solidFill>
                            <a:srgbClr val="000000"/>
                          </a:solidFill>
                          <a:effectLst/>
                          <a:latin typeface="Calibri" panose="020F0502020204030204" pitchFamily="34" charset="0"/>
                        </a:rPr>
                        <a:t> Labs and homework</a:t>
                      </a:r>
                      <a:endParaRPr lang="en-US" sz="3300">
                        <a:solidFill>
                          <a:srgbClr val="000000"/>
                        </a:solidFill>
                        <a:effectLst/>
                        <a:latin typeface="Calibri" panose="020F0502020204030204" pitchFamily="34" charset="0"/>
                      </a:endParaRPr>
                    </a:p>
                  </a:txBody>
                  <a:tcPr marL="67522" marR="67522" marT="41910" marB="4191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3300" b="0" i="0" u="none" strike="noStrike">
                          <a:solidFill>
                            <a:srgbClr val="000000"/>
                          </a:solidFill>
                          <a:effectLst/>
                          <a:latin typeface="Calibri" panose="020F0502020204030204" pitchFamily="34" charset="0"/>
                        </a:rPr>
                        <a:t>  20%</a:t>
                      </a:r>
                      <a:endParaRPr lang="en-US" sz="3300">
                        <a:solidFill>
                          <a:srgbClr val="000000"/>
                        </a:solidFill>
                        <a:effectLst/>
                        <a:latin typeface="Calibri" panose="020F0502020204030204" pitchFamily="34" charset="0"/>
                      </a:endParaRPr>
                    </a:p>
                  </a:txBody>
                  <a:tcPr marL="67522" marR="67522" marT="41910" marB="4191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08262426"/>
                  </a:ext>
                </a:extLst>
              </a:tr>
              <a:tr h="620268">
                <a:tc>
                  <a:txBody>
                    <a:bodyPr/>
                    <a:lstStyle/>
                    <a:p>
                      <a:pPr algn="l" fontAlgn="b"/>
                      <a:r>
                        <a:rPr lang="en-US" sz="3300">
                          <a:solidFill>
                            <a:srgbClr val="000000"/>
                          </a:solidFill>
                          <a:effectLst/>
                          <a:latin typeface="Calibri" panose="020F0502020204030204" pitchFamily="34" charset="0"/>
                        </a:rPr>
                        <a:t> Mid-term Examination</a:t>
                      </a:r>
                    </a:p>
                  </a:txBody>
                  <a:tcPr marL="67522" marR="67522" marT="41910" marB="4191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3300">
                          <a:solidFill>
                            <a:srgbClr val="000000"/>
                          </a:solidFill>
                          <a:effectLst/>
                          <a:latin typeface="Calibri" panose="020F0502020204030204" pitchFamily="34" charset="0"/>
                        </a:rPr>
                        <a:t>  50%</a:t>
                      </a:r>
                    </a:p>
                  </a:txBody>
                  <a:tcPr marL="67522" marR="67522" marT="41910" marB="4191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14034239"/>
                  </a:ext>
                </a:extLst>
              </a:tr>
              <a:tr h="620268">
                <a:tc>
                  <a:txBody>
                    <a:bodyPr/>
                    <a:lstStyle/>
                    <a:p>
                      <a:pPr algn="l" fontAlgn="b"/>
                      <a:r>
                        <a:rPr lang="en-US" sz="3300" b="0" i="0" u="none" strike="noStrike">
                          <a:solidFill>
                            <a:srgbClr val="000000"/>
                          </a:solidFill>
                          <a:effectLst/>
                          <a:latin typeface="Calibri" panose="020F0502020204030204" pitchFamily="34" charset="0"/>
                        </a:rPr>
                        <a:t> Final Project</a:t>
                      </a:r>
                      <a:endParaRPr lang="en-US" sz="3300">
                        <a:solidFill>
                          <a:srgbClr val="000000"/>
                        </a:solidFill>
                        <a:effectLst/>
                        <a:latin typeface="Calibri" panose="020F0502020204030204" pitchFamily="34" charset="0"/>
                      </a:endParaRPr>
                    </a:p>
                  </a:txBody>
                  <a:tcPr marL="67522" marR="67522" marT="41910" marB="4191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3300" b="0" i="0" u="none" strike="noStrike">
                          <a:solidFill>
                            <a:srgbClr val="000000"/>
                          </a:solidFill>
                          <a:effectLst/>
                          <a:latin typeface="Calibri" panose="020F0502020204030204" pitchFamily="34" charset="0"/>
                        </a:rPr>
                        <a:t>  30%</a:t>
                      </a:r>
                      <a:endParaRPr lang="en-US" sz="3300">
                        <a:solidFill>
                          <a:srgbClr val="000000"/>
                        </a:solidFill>
                        <a:effectLst/>
                        <a:latin typeface="Calibri" panose="020F0502020204030204" pitchFamily="34" charset="0"/>
                      </a:endParaRPr>
                    </a:p>
                  </a:txBody>
                  <a:tcPr marL="67522" marR="67522" marT="41910" marB="4191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4716071"/>
                  </a:ext>
                </a:extLst>
              </a:tr>
              <a:tr h="620268">
                <a:tc>
                  <a:txBody>
                    <a:bodyPr/>
                    <a:lstStyle/>
                    <a:p>
                      <a:pPr algn="l" fontAlgn="b"/>
                      <a:r>
                        <a:rPr lang="en-US" sz="3300" b="1" i="0" u="none" strike="noStrike">
                          <a:solidFill>
                            <a:srgbClr val="000000"/>
                          </a:solidFill>
                          <a:effectLst/>
                          <a:latin typeface="Calibri" panose="020F0502020204030204" pitchFamily="34" charset="0"/>
                        </a:rPr>
                        <a:t> Total</a:t>
                      </a:r>
                      <a:endParaRPr lang="en-US" sz="3300">
                        <a:solidFill>
                          <a:srgbClr val="000000"/>
                        </a:solidFill>
                        <a:effectLst/>
                        <a:latin typeface="Calibri" panose="020F0502020204030204" pitchFamily="34" charset="0"/>
                      </a:endParaRPr>
                    </a:p>
                  </a:txBody>
                  <a:tcPr marL="67522" marR="67522" marT="41910" marB="4191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3300" b="1" i="0" u="none" strike="noStrike">
                          <a:solidFill>
                            <a:srgbClr val="000000"/>
                          </a:solidFill>
                          <a:effectLst/>
                          <a:latin typeface="Calibri" panose="020F0502020204030204" pitchFamily="34" charset="0"/>
                        </a:rPr>
                        <a:t> 100%</a:t>
                      </a:r>
                      <a:endParaRPr lang="en-US" sz="3300">
                        <a:solidFill>
                          <a:srgbClr val="000000"/>
                        </a:solidFill>
                        <a:effectLst/>
                        <a:latin typeface="Calibri" panose="020F0502020204030204" pitchFamily="34" charset="0"/>
                      </a:endParaRPr>
                    </a:p>
                  </a:txBody>
                  <a:tcPr marL="67522" marR="67522" marT="41910" marB="4191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97305635"/>
                  </a:ext>
                </a:extLst>
              </a:tr>
            </a:tbl>
          </a:graphicData>
        </a:graphic>
      </p:graphicFrame>
    </p:spTree>
    <p:extLst>
      <p:ext uri="{BB962C8B-B14F-4D97-AF65-F5344CB8AC3E}">
        <p14:creationId xmlns:p14="http://schemas.microsoft.com/office/powerpoint/2010/main" val="676221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77B299-FA61-2596-B668-66C08B2205AC}"/>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Grading Scale</a:t>
            </a:r>
          </a:p>
        </p:txBody>
      </p:sp>
      <p:graphicFrame>
        <p:nvGraphicFramePr>
          <p:cNvPr id="4" name="Content Placeholder 3">
            <a:extLst>
              <a:ext uri="{FF2B5EF4-FFF2-40B4-BE49-F238E27FC236}">
                <a16:creationId xmlns:a16="http://schemas.microsoft.com/office/drawing/2014/main" id="{25F9CD6A-B664-6602-DABF-ADBA858B1F5B}"/>
              </a:ext>
            </a:extLst>
          </p:cNvPr>
          <p:cNvGraphicFramePr>
            <a:graphicFrameLocks noGrp="1"/>
          </p:cNvGraphicFramePr>
          <p:nvPr>
            <p:ph idx="1"/>
            <p:extLst>
              <p:ext uri="{D42A27DB-BD31-4B8C-83A1-F6EECF244321}">
                <p14:modId xmlns:p14="http://schemas.microsoft.com/office/powerpoint/2010/main" val="3086802898"/>
              </p:ext>
            </p:extLst>
          </p:nvPr>
        </p:nvGraphicFramePr>
        <p:xfrm>
          <a:off x="3627937" y="1966293"/>
          <a:ext cx="4936125" cy="4452168"/>
        </p:xfrm>
        <a:graphic>
          <a:graphicData uri="http://schemas.openxmlformats.org/drawingml/2006/table">
            <a:tbl>
              <a:tblPr firstRow="1" bandRow="1">
                <a:solidFill>
                  <a:schemeClr val="bg1"/>
                </a:solidFill>
              </a:tblPr>
              <a:tblGrid>
                <a:gridCol w="2397866">
                  <a:extLst>
                    <a:ext uri="{9D8B030D-6E8A-4147-A177-3AD203B41FA5}">
                      <a16:colId xmlns:a16="http://schemas.microsoft.com/office/drawing/2014/main" val="1037031672"/>
                    </a:ext>
                  </a:extLst>
                </a:gridCol>
                <a:gridCol w="2538259">
                  <a:extLst>
                    <a:ext uri="{9D8B030D-6E8A-4147-A177-3AD203B41FA5}">
                      <a16:colId xmlns:a16="http://schemas.microsoft.com/office/drawing/2014/main" val="2392693905"/>
                    </a:ext>
                  </a:extLst>
                </a:gridCol>
              </a:tblGrid>
              <a:tr h="318012">
                <a:tc>
                  <a:txBody>
                    <a:bodyPr/>
                    <a:lstStyle/>
                    <a:p>
                      <a:pPr algn="l" fontAlgn="b"/>
                      <a:r>
                        <a:rPr lang="en-US" sz="1000" b="0" i="0" u="none" strike="noStrike" cap="none" spc="0">
                          <a:solidFill>
                            <a:schemeClr val="bg1"/>
                          </a:solidFill>
                          <a:effectLst/>
                          <a:latin typeface="Calibri" panose="020F0502020204030204" pitchFamily="34" charset="0"/>
                        </a:rPr>
                        <a:t>Letter Grade</a:t>
                      </a:r>
                      <a:endParaRPr lang="en-US" sz="1000" b="0" cap="none" spc="0">
                        <a:solidFill>
                          <a:schemeClr val="bg1"/>
                        </a:solidFill>
                        <a:effectLst/>
                        <a:latin typeface="Calibri" panose="020F0502020204030204" pitchFamily="34" charset="0"/>
                      </a:endParaRPr>
                    </a:p>
                  </a:txBody>
                  <a:tcPr marL="87341" marR="54122" marT="67186" marB="67186"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tc>
                  <a:txBody>
                    <a:bodyPr/>
                    <a:lstStyle/>
                    <a:p>
                      <a:pPr algn="l" fontAlgn="b"/>
                      <a:r>
                        <a:rPr lang="en-US" sz="1000" b="0" i="0" u="none" strike="noStrike" cap="none" spc="0">
                          <a:solidFill>
                            <a:schemeClr val="bg1"/>
                          </a:solidFill>
                          <a:effectLst/>
                          <a:latin typeface="Calibri" panose="020F0502020204030204" pitchFamily="34" charset="0"/>
                        </a:rPr>
                        <a:t>Percentage</a:t>
                      </a:r>
                      <a:endParaRPr lang="en-US" sz="1000" b="0" cap="none" spc="0">
                        <a:solidFill>
                          <a:schemeClr val="bg1"/>
                        </a:solidFill>
                        <a:effectLst/>
                        <a:latin typeface="Calibri" panose="020F0502020204030204" pitchFamily="34" charset="0"/>
                      </a:endParaRPr>
                    </a:p>
                  </a:txBody>
                  <a:tcPr marL="87341" marR="54122" marT="67186" marB="67186" anchor="ctr">
                    <a:lnL w="12700" cmpd="sng">
                      <a:noFill/>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3917796447"/>
                  </a:ext>
                </a:extLst>
              </a:tr>
              <a:tr h="318012">
                <a:tc>
                  <a:txBody>
                    <a:bodyPr/>
                    <a:lstStyle/>
                    <a:p>
                      <a:pPr algn="l" fontAlgn="b"/>
                      <a:r>
                        <a:rPr lang="en-US" sz="1000" b="0" i="0" u="none" strike="noStrike" cap="none" spc="0">
                          <a:solidFill>
                            <a:schemeClr val="tx1"/>
                          </a:solidFill>
                          <a:effectLst/>
                          <a:latin typeface="Calibri" panose="020F0502020204030204" pitchFamily="34" charset="0"/>
                        </a:rPr>
                        <a:t>A+</a:t>
                      </a:r>
                      <a:endParaRPr lang="en-US" sz="1000" cap="none" spc="0">
                        <a:solidFill>
                          <a:schemeClr val="tx1"/>
                        </a:solidFill>
                        <a:effectLst/>
                        <a:latin typeface="Calibri" panose="020F0502020204030204" pitchFamily="34" charset="0"/>
                      </a:endParaRPr>
                    </a:p>
                  </a:txBody>
                  <a:tcPr marL="87341" marR="54122" marT="67186" marB="67186" anchor="b">
                    <a:lnL w="19050" cap="flat" cmpd="sng" algn="ctr">
                      <a:solidFill>
                        <a:schemeClr val="tx1"/>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noFill/>
                  </a:tcPr>
                </a:tc>
                <a:tc>
                  <a:txBody>
                    <a:bodyPr/>
                    <a:lstStyle/>
                    <a:p>
                      <a:pPr algn="l" fontAlgn="b"/>
                      <a:r>
                        <a:rPr lang="en-US" sz="1000" b="0" i="0" u="none" strike="noStrike" cap="none" spc="0">
                          <a:solidFill>
                            <a:schemeClr val="tx1"/>
                          </a:solidFill>
                          <a:effectLst/>
                          <a:latin typeface="Calibri" panose="020F0502020204030204" pitchFamily="34" charset="0"/>
                        </a:rPr>
                        <a:t>97% - 100%</a:t>
                      </a:r>
                      <a:endParaRPr lang="en-US" sz="1000" cap="none" spc="0">
                        <a:solidFill>
                          <a:schemeClr val="tx1"/>
                        </a:solidFill>
                        <a:effectLst/>
                        <a:latin typeface="Calibri" panose="020F0502020204030204" pitchFamily="34" charset="0"/>
                      </a:endParaRPr>
                    </a:p>
                  </a:txBody>
                  <a:tcPr marL="87341" marR="54122" marT="67186" marB="67186" anchor="b">
                    <a:lnL w="6350" cap="flat" cmpd="sng" algn="ctr">
                      <a:solidFill>
                        <a:schemeClr val="tx1">
                          <a:lumMod val="50000"/>
                          <a:lumOff val="50000"/>
                        </a:schemeClr>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877995355"/>
                  </a:ext>
                </a:extLst>
              </a:tr>
              <a:tr h="318012">
                <a:tc>
                  <a:txBody>
                    <a:bodyPr/>
                    <a:lstStyle/>
                    <a:p>
                      <a:pPr algn="l" fontAlgn="b"/>
                      <a:r>
                        <a:rPr lang="en-US" sz="1000" b="0" i="0" u="none" strike="noStrike" cap="none" spc="0">
                          <a:solidFill>
                            <a:schemeClr val="tx1"/>
                          </a:solidFill>
                          <a:effectLst/>
                          <a:latin typeface="Calibri" panose="020F0502020204030204" pitchFamily="34" charset="0"/>
                        </a:rPr>
                        <a:t>A</a:t>
                      </a:r>
                      <a:endParaRPr lang="en-US" sz="1000" cap="none" spc="0">
                        <a:solidFill>
                          <a:schemeClr val="tx1"/>
                        </a:solidFill>
                        <a:effectLst/>
                        <a:latin typeface="Calibri" panose="020F0502020204030204" pitchFamily="34" charset="0"/>
                      </a:endParaRPr>
                    </a:p>
                  </a:txBody>
                  <a:tcPr marL="87341" marR="54122" marT="67186" marB="67186"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l" fontAlgn="b"/>
                      <a:r>
                        <a:rPr lang="en-US" sz="1000" b="0" i="0" u="none" strike="noStrike" cap="none" spc="0">
                          <a:solidFill>
                            <a:schemeClr val="tx1"/>
                          </a:solidFill>
                          <a:effectLst/>
                          <a:latin typeface="Calibri" panose="020F0502020204030204" pitchFamily="34" charset="0"/>
                        </a:rPr>
                        <a:t>93% - 96%</a:t>
                      </a:r>
                      <a:endParaRPr lang="en-US" sz="1000" cap="none" spc="0">
                        <a:solidFill>
                          <a:schemeClr val="tx1"/>
                        </a:solidFill>
                        <a:effectLst/>
                        <a:latin typeface="Calibri" panose="020F0502020204030204" pitchFamily="34" charset="0"/>
                      </a:endParaRPr>
                    </a:p>
                  </a:txBody>
                  <a:tcPr marL="87341" marR="54122" marT="67186" marB="67186" anchor="b">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1138203421"/>
                  </a:ext>
                </a:extLst>
              </a:tr>
              <a:tr h="318012">
                <a:tc>
                  <a:txBody>
                    <a:bodyPr/>
                    <a:lstStyle/>
                    <a:p>
                      <a:pPr algn="l" fontAlgn="b"/>
                      <a:r>
                        <a:rPr lang="en-US" sz="1000" b="0" i="0" u="none" strike="noStrike" cap="none" spc="0">
                          <a:solidFill>
                            <a:schemeClr val="tx1"/>
                          </a:solidFill>
                          <a:effectLst/>
                          <a:latin typeface="Calibri" panose="020F0502020204030204" pitchFamily="34" charset="0"/>
                        </a:rPr>
                        <a:t>A-</a:t>
                      </a:r>
                      <a:endParaRPr lang="en-US" sz="1000" cap="none" spc="0">
                        <a:solidFill>
                          <a:schemeClr val="tx1"/>
                        </a:solidFill>
                        <a:effectLst/>
                        <a:latin typeface="Calibri" panose="020F0502020204030204" pitchFamily="34" charset="0"/>
                      </a:endParaRPr>
                    </a:p>
                  </a:txBody>
                  <a:tcPr marL="87341" marR="54122" marT="67186" marB="67186" anchor="b">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l" fontAlgn="b"/>
                      <a:r>
                        <a:rPr lang="en-US" sz="1000" b="0" i="0" u="none" strike="noStrike" cap="none" spc="0">
                          <a:solidFill>
                            <a:schemeClr val="tx1"/>
                          </a:solidFill>
                          <a:effectLst/>
                          <a:latin typeface="Calibri" panose="020F0502020204030204" pitchFamily="34" charset="0"/>
                        </a:rPr>
                        <a:t>90% - 92%</a:t>
                      </a:r>
                      <a:endParaRPr lang="en-US" sz="1000" cap="none" spc="0">
                        <a:solidFill>
                          <a:schemeClr val="tx1"/>
                        </a:solidFill>
                        <a:effectLst/>
                        <a:latin typeface="Calibri" panose="020F0502020204030204" pitchFamily="34" charset="0"/>
                      </a:endParaRPr>
                    </a:p>
                  </a:txBody>
                  <a:tcPr marL="87341" marR="54122" marT="67186" marB="67186" anchor="b">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833734533"/>
                  </a:ext>
                </a:extLst>
              </a:tr>
              <a:tr h="318012">
                <a:tc>
                  <a:txBody>
                    <a:bodyPr/>
                    <a:lstStyle/>
                    <a:p>
                      <a:pPr algn="l" fontAlgn="b"/>
                      <a:r>
                        <a:rPr lang="en-US" sz="1000" b="0" i="0" u="none" strike="noStrike" cap="none" spc="0">
                          <a:solidFill>
                            <a:schemeClr val="tx1"/>
                          </a:solidFill>
                          <a:effectLst/>
                          <a:latin typeface="Calibri" panose="020F0502020204030204" pitchFamily="34" charset="0"/>
                        </a:rPr>
                        <a:t>B+</a:t>
                      </a:r>
                      <a:endParaRPr lang="en-US" sz="1000" cap="none" spc="0">
                        <a:solidFill>
                          <a:schemeClr val="tx1"/>
                        </a:solidFill>
                        <a:effectLst/>
                        <a:latin typeface="Calibri" panose="020F0502020204030204" pitchFamily="34" charset="0"/>
                      </a:endParaRPr>
                    </a:p>
                  </a:txBody>
                  <a:tcPr marL="87341" marR="54122" marT="67186" marB="67186"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l" fontAlgn="b"/>
                      <a:r>
                        <a:rPr lang="en-US" sz="1000" b="0" i="0" u="none" strike="noStrike" cap="none" spc="0">
                          <a:solidFill>
                            <a:schemeClr val="tx1"/>
                          </a:solidFill>
                          <a:effectLst/>
                          <a:latin typeface="Calibri" panose="020F0502020204030204" pitchFamily="34" charset="0"/>
                        </a:rPr>
                        <a:t>87% - 89%</a:t>
                      </a:r>
                      <a:endParaRPr lang="en-US" sz="1000" cap="none" spc="0">
                        <a:solidFill>
                          <a:schemeClr val="tx1"/>
                        </a:solidFill>
                        <a:effectLst/>
                        <a:latin typeface="Calibri" panose="020F0502020204030204" pitchFamily="34" charset="0"/>
                      </a:endParaRPr>
                    </a:p>
                  </a:txBody>
                  <a:tcPr marL="87341" marR="54122" marT="67186" marB="67186" anchor="b">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3116520023"/>
                  </a:ext>
                </a:extLst>
              </a:tr>
              <a:tr h="318012">
                <a:tc>
                  <a:txBody>
                    <a:bodyPr/>
                    <a:lstStyle/>
                    <a:p>
                      <a:pPr algn="l" fontAlgn="b"/>
                      <a:r>
                        <a:rPr lang="en-US" sz="1000" b="0" i="0" u="none" strike="noStrike" cap="none" spc="0">
                          <a:solidFill>
                            <a:schemeClr val="tx1"/>
                          </a:solidFill>
                          <a:effectLst/>
                          <a:latin typeface="Calibri" panose="020F0502020204030204" pitchFamily="34" charset="0"/>
                        </a:rPr>
                        <a:t>B</a:t>
                      </a:r>
                      <a:endParaRPr lang="en-US" sz="1000" cap="none" spc="0">
                        <a:solidFill>
                          <a:schemeClr val="tx1"/>
                        </a:solidFill>
                        <a:effectLst/>
                        <a:latin typeface="Calibri" panose="020F0502020204030204" pitchFamily="34" charset="0"/>
                      </a:endParaRPr>
                    </a:p>
                  </a:txBody>
                  <a:tcPr marL="87341" marR="54122" marT="67186" marB="67186" anchor="b">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l" fontAlgn="b"/>
                      <a:r>
                        <a:rPr lang="en-US" sz="1000" b="0" i="0" u="none" strike="noStrike" cap="none" spc="0">
                          <a:solidFill>
                            <a:schemeClr val="tx1"/>
                          </a:solidFill>
                          <a:effectLst/>
                          <a:latin typeface="Calibri" panose="020F0502020204030204" pitchFamily="34" charset="0"/>
                        </a:rPr>
                        <a:t>83% - 86%</a:t>
                      </a:r>
                      <a:endParaRPr lang="en-US" sz="1000" cap="none" spc="0">
                        <a:solidFill>
                          <a:schemeClr val="tx1"/>
                        </a:solidFill>
                        <a:effectLst/>
                        <a:latin typeface="Calibri" panose="020F0502020204030204" pitchFamily="34" charset="0"/>
                      </a:endParaRPr>
                    </a:p>
                  </a:txBody>
                  <a:tcPr marL="87341" marR="54122" marT="67186" marB="67186" anchor="b">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659392553"/>
                  </a:ext>
                </a:extLst>
              </a:tr>
              <a:tr h="318012">
                <a:tc>
                  <a:txBody>
                    <a:bodyPr/>
                    <a:lstStyle/>
                    <a:p>
                      <a:pPr algn="l" fontAlgn="b"/>
                      <a:r>
                        <a:rPr lang="en-US" sz="1000" b="0" i="0" u="none" strike="noStrike" cap="none" spc="0">
                          <a:solidFill>
                            <a:schemeClr val="tx1"/>
                          </a:solidFill>
                          <a:effectLst/>
                          <a:latin typeface="Calibri" panose="020F0502020204030204" pitchFamily="34" charset="0"/>
                        </a:rPr>
                        <a:t>B-</a:t>
                      </a:r>
                      <a:endParaRPr lang="en-US" sz="1000" cap="none" spc="0">
                        <a:solidFill>
                          <a:schemeClr val="tx1"/>
                        </a:solidFill>
                        <a:effectLst/>
                        <a:latin typeface="Calibri" panose="020F0502020204030204" pitchFamily="34" charset="0"/>
                      </a:endParaRPr>
                    </a:p>
                  </a:txBody>
                  <a:tcPr marL="87341" marR="54122" marT="67186" marB="67186"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l" fontAlgn="b"/>
                      <a:r>
                        <a:rPr lang="en-US" sz="1000" b="0" i="0" u="none" strike="noStrike" cap="none" spc="0">
                          <a:solidFill>
                            <a:schemeClr val="tx1"/>
                          </a:solidFill>
                          <a:effectLst/>
                          <a:latin typeface="Calibri" panose="020F0502020204030204" pitchFamily="34" charset="0"/>
                        </a:rPr>
                        <a:t>80% - 82%</a:t>
                      </a:r>
                      <a:endParaRPr lang="en-US" sz="1000" cap="none" spc="0">
                        <a:solidFill>
                          <a:schemeClr val="tx1"/>
                        </a:solidFill>
                        <a:effectLst/>
                        <a:latin typeface="Calibri" panose="020F0502020204030204" pitchFamily="34" charset="0"/>
                      </a:endParaRPr>
                    </a:p>
                  </a:txBody>
                  <a:tcPr marL="87341" marR="54122" marT="67186" marB="67186" anchor="b">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2135330183"/>
                  </a:ext>
                </a:extLst>
              </a:tr>
              <a:tr h="318012">
                <a:tc>
                  <a:txBody>
                    <a:bodyPr/>
                    <a:lstStyle/>
                    <a:p>
                      <a:pPr algn="l" fontAlgn="b"/>
                      <a:r>
                        <a:rPr lang="en-US" sz="1000" b="0" i="0" u="none" strike="noStrike" cap="none" spc="0">
                          <a:solidFill>
                            <a:schemeClr val="tx1"/>
                          </a:solidFill>
                          <a:effectLst/>
                          <a:latin typeface="Calibri" panose="020F0502020204030204" pitchFamily="34" charset="0"/>
                        </a:rPr>
                        <a:t>C+</a:t>
                      </a:r>
                      <a:endParaRPr lang="en-US" sz="1000" cap="none" spc="0">
                        <a:solidFill>
                          <a:schemeClr val="tx1"/>
                        </a:solidFill>
                        <a:effectLst/>
                        <a:latin typeface="Calibri" panose="020F0502020204030204" pitchFamily="34" charset="0"/>
                      </a:endParaRPr>
                    </a:p>
                  </a:txBody>
                  <a:tcPr marL="87341" marR="54122" marT="67186" marB="67186" anchor="b">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l" fontAlgn="b"/>
                      <a:r>
                        <a:rPr lang="en-US" sz="1000" b="0" i="0" u="none" strike="noStrike" cap="none" spc="0">
                          <a:solidFill>
                            <a:schemeClr val="tx1"/>
                          </a:solidFill>
                          <a:effectLst/>
                          <a:latin typeface="Calibri" panose="020F0502020204030204" pitchFamily="34" charset="0"/>
                        </a:rPr>
                        <a:t>77% - 79%</a:t>
                      </a:r>
                      <a:endParaRPr lang="en-US" sz="1000" cap="none" spc="0">
                        <a:solidFill>
                          <a:schemeClr val="tx1"/>
                        </a:solidFill>
                        <a:effectLst/>
                        <a:latin typeface="Calibri" panose="020F0502020204030204" pitchFamily="34" charset="0"/>
                      </a:endParaRPr>
                    </a:p>
                  </a:txBody>
                  <a:tcPr marL="87341" marR="54122" marT="67186" marB="67186" anchor="b">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774219662"/>
                  </a:ext>
                </a:extLst>
              </a:tr>
              <a:tr h="318012">
                <a:tc>
                  <a:txBody>
                    <a:bodyPr/>
                    <a:lstStyle/>
                    <a:p>
                      <a:pPr algn="l" fontAlgn="b"/>
                      <a:r>
                        <a:rPr lang="en-US" sz="1000" b="0" i="0" u="none" strike="noStrike" cap="none" spc="0">
                          <a:solidFill>
                            <a:schemeClr val="tx1"/>
                          </a:solidFill>
                          <a:effectLst/>
                          <a:latin typeface="Calibri" panose="020F0502020204030204" pitchFamily="34" charset="0"/>
                        </a:rPr>
                        <a:t>C</a:t>
                      </a:r>
                      <a:endParaRPr lang="en-US" sz="1000" cap="none" spc="0">
                        <a:solidFill>
                          <a:schemeClr val="tx1"/>
                        </a:solidFill>
                        <a:effectLst/>
                        <a:latin typeface="Calibri" panose="020F0502020204030204" pitchFamily="34" charset="0"/>
                      </a:endParaRPr>
                    </a:p>
                  </a:txBody>
                  <a:tcPr marL="87341" marR="54122" marT="67186" marB="67186"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l" fontAlgn="b"/>
                      <a:r>
                        <a:rPr lang="en-US" sz="1000" b="0" i="0" u="none" strike="noStrike" cap="none" spc="0">
                          <a:solidFill>
                            <a:schemeClr val="tx1"/>
                          </a:solidFill>
                          <a:effectLst/>
                          <a:latin typeface="Calibri" panose="020F0502020204030204" pitchFamily="34" charset="0"/>
                        </a:rPr>
                        <a:t>73% - 76%</a:t>
                      </a:r>
                      <a:endParaRPr lang="en-US" sz="1000" cap="none" spc="0">
                        <a:solidFill>
                          <a:schemeClr val="tx1"/>
                        </a:solidFill>
                        <a:effectLst/>
                        <a:latin typeface="Calibri" panose="020F0502020204030204" pitchFamily="34" charset="0"/>
                      </a:endParaRPr>
                    </a:p>
                  </a:txBody>
                  <a:tcPr marL="87341" marR="54122" marT="67186" marB="67186" anchor="b">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1879726662"/>
                  </a:ext>
                </a:extLst>
              </a:tr>
              <a:tr h="318012">
                <a:tc>
                  <a:txBody>
                    <a:bodyPr/>
                    <a:lstStyle/>
                    <a:p>
                      <a:pPr algn="l" fontAlgn="b"/>
                      <a:r>
                        <a:rPr lang="en-US" sz="1000" b="0" i="0" u="none" strike="noStrike" cap="none" spc="0">
                          <a:solidFill>
                            <a:schemeClr val="tx1"/>
                          </a:solidFill>
                          <a:effectLst/>
                          <a:latin typeface="Calibri" panose="020F0502020204030204" pitchFamily="34" charset="0"/>
                        </a:rPr>
                        <a:t>C-</a:t>
                      </a:r>
                      <a:endParaRPr lang="en-US" sz="1000" cap="none" spc="0">
                        <a:solidFill>
                          <a:schemeClr val="tx1"/>
                        </a:solidFill>
                        <a:effectLst/>
                        <a:latin typeface="Calibri" panose="020F0502020204030204" pitchFamily="34" charset="0"/>
                      </a:endParaRPr>
                    </a:p>
                  </a:txBody>
                  <a:tcPr marL="87341" marR="54122" marT="67186" marB="67186" anchor="b">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l" fontAlgn="b"/>
                      <a:r>
                        <a:rPr lang="en-US" sz="1000" b="0" i="0" u="none" strike="noStrike" cap="none" spc="0">
                          <a:solidFill>
                            <a:schemeClr val="tx1"/>
                          </a:solidFill>
                          <a:effectLst/>
                          <a:latin typeface="Calibri" panose="020F0502020204030204" pitchFamily="34" charset="0"/>
                        </a:rPr>
                        <a:t>70% - 72%</a:t>
                      </a:r>
                      <a:endParaRPr lang="en-US" sz="1000" cap="none" spc="0">
                        <a:solidFill>
                          <a:schemeClr val="tx1"/>
                        </a:solidFill>
                        <a:effectLst/>
                        <a:latin typeface="Calibri" panose="020F0502020204030204" pitchFamily="34" charset="0"/>
                      </a:endParaRPr>
                    </a:p>
                  </a:txBody>
                  <a:tcPr marL="87341" marR="54122" marT="67186" marB="67186" anchor="b">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506725624"/>
                  </a:ext>
                </a:extLst>
              </a:tr>
              <a:tr h="318012">
                <a:tc>
                  <a:txBody>
                    <a:bodyPr/>
                    <a:lstStyle/>
                    <a:p>
                      <a:pPr algn="l" fontAlgn="b"/>
                      <a:r>
                        <a:rPr lang="en-US" sz="1000" b="0" i="0" u="none" strike="noStrike" cap="none" spc="0">
                          <a:solidFill>
                            <a:schemeClr val="tx1"/>
                          </a:solidFill>
                          <a:effectLst/>
                          <a:latin typeface="Calibri" panose="020F0502020204030204" pitchFamily="34" charset="0"/>
                        </a:rPr>
                        <a:t>D+</a:t>
                      </a:r>
                      <a:endParaRPr lang="en-US" sz="1000" cap="none" spc="0">
                        <a:solidFill>
                          <a:schemeClr val="tx1"/>
                        </a:solidFill>
                        <a:effectLst/>
                        <a:latin typeface="Calibri" panose="020F0502020204030204" pitchFamily="34" charset="0"/>
                      </a:endParaRPr>
                    </a:p>
                  </a:txBody>
                  <a:tcPr marL="87341" marR="54122" marT="67186" marB="67186"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l" fontAlgn="b"/>
                      <a:r>
                        <a:rPr lang="en-US" sz="1000" b="0" i="0" u="none" strike="noStrike" cap="none" spc="0">
                          <a:solidFill>
                            <a:schemeClr val="tx1"/>
                          </a:solidFill>
                          <a:effectLst/>
                          <a:latin typeface="Calibri" panose="020F0502020204030204" pitchFamily="34" charset="0"/>
                        </a:rPr>
                        <a:t>67% - 69%</a:t>
                      </a:r>
                      <a:endParaRPr lang="en-US" sz="1000" cap="none" spc="0">
                        <a:solidFill>
                          <a:schemeClr val="tx1"/>
                        </a:solidFill>
                        <a:effectLst/>
                        <a:latin typeface="Calibri" panose="020F0502020204030204" pitchFamily="34" charset="0"/>
                      </a:endParaRPr>
                    </a:p>
                  </a:txBody>
                  <a:tcPr marL="87341" marR="54122" marT="67186" marB="67186" anchor="b">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3867016006"/>
                  </a:ext>
                </a:extLst>
              </a:tr>
              <a:tr h="318012">
                <a:tc>
                  <a:txBody>
                    <a:bodyPr/>
                    <a:lstStyle/>
                    <a:p>
                      <a:pPr algn="l" fontAlgn="b"/>
                      <a:r>
                        <a:rPr lang="en-US" sz="1000" b="0" i="0" u="none" strike="noStrike" cap="none" spc="0">
                          <a:solidFill>
                            <a:schemeClr val="tx1"/>
                          </a:solidFill>
                          <a:effectLst/>
                          <a:latin typeface="Calibri" panose="020F0502020204030204" pitchFamily="34" charset="0"/>
                        </a:rPr>
                        <a:t>D</a:t>
                      </a:r>
                      <a:endParaRPr lang="en-US" sz="1000" cap="none" spc="0">
                        <a:solidFill>
                          <a:schemeClr val="tx1"/>
                        </a:solidFill>
                        <a:effectLst/>
                        <a:latin typeface="Calibri" panose="020F0502020204030204" pitchFamily="34" charset="0"/>
                      </a:endParaRPr>
                    </a:p>
                  </a:txBody>
                  <a:tcPr marL="87341" marR="54122" marT="67186" marB="67186" anchor="b">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l" fontAlgn="b"/>
                      <a:r>
                        <a:rPr lang="en-US" sz="1000" b="0" i="0" u="none" strike="noStrike" cap="none" spc="0">
                          <a:solidFill>
                            <a:schemeClr val="tx1"/>
                          </a:solidFill>
                          <a:effectLst/>
                          <a:latin typeface="Calibri" panose="020F0502020204030204" pitchFamily="34" charset="0"/>
                        </a:rPr>
                        <a:t>63% - 66%</a:t>
                      </a:r>
                      <a:endParaRPr lang="en-US" sz="1000" cap="none" spc="0">
                        <a:solidFill>
                          <a:schemeClr val="tx1"/>
                        </a:solidFill>
                        <a:effectLst/>
                        <a:latin typeface="Calibri" panose="020F0502020204030204" pitchFamily="34" charset="0"/>
                      </a:endParaRPr>
                    </a:p>
                  </a:txBody>
                  <a:tcPr marL="87341" marR="54122" marT="67186" marB="67186" anchor="b">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43583851"/>
                  </a:ext>
                </a:extLst>
              </a:tr>
              <a:tr h="318012">
                <a:tc>
                  <a:txBody>
                    <a:bodyPr/>
                    <a:lstStyle/>
                    <a:p>
                      <a:pPr algn="l" fontAlgn="b"/>
                      <a:r>
                        <a:rPr lang="en-US" sz="1000" b="0" i="0" u="none" strike="noStrike" cap="none" spc="0">
                          <a:solidFill>
                            <a:schemeClr val="tx1"/>
                          </a:solidFill>
                          <a:effectLst/>
                          <a:latin typeface="Calibri" panose="020F0502020204030204" pitchFamily="34" charset="0"/>
                        </a:rPr>
                        <a:t>D-</a:t>
                      </a:r>
                      <a:endParaRPr lang="en-US" sz="1000" cap="none" spc="0">
                        <a:solidFill>
                          <a:schemeClr val="tx1"/>
                        </a:solidFill>
                        <a:effectLst/>
                        <a:latin typeface="Calibri" panose="020F0502020204030204" pitchFamily="34" charset="0"/>
                      </a:endParaRPr>
                    </a:p>
                  </a:txBody>
                  <a:tcPr marL="87341" marR="54122" marT="67186" marB="67186"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l" fontAlgn="b"/>
                      <a:r>
                        <a:rPr lang="en-US" sz="1000" b="0" i="0" u="none" strike="noStrike" cap="none" spc="0">
                          <a:solidFill>
                            <a:schemeClr val="tx1"/>
                          </a:solidFill>
                          <a:effectLst/>
                          <a:latin typeface="Calibri" panose="020F0502020204030204" pitchFamily="34" charset="0"/>
                        </a:rPr>
                        <a:t>60% - 62%</a:t>
                      </a:r>
                      <a:endParaRPr lang="en-US" sz="1000" cap="none" spc="0">
                        <a:solidFill>
                          <a:schemeClr val="tx1"/>
                        </a:solidFill>
                        <a:effectLst/>
                        <a:latin typeface="Calibri" panose="020F0502020204030204" pitchFamily="34" charset="0"/>
                      </a:endParaRPr>
                    </a:p>
                  </a:txBody>
                  <a:tcPr marL="87341" marR="54122" marT="67186" marB="67186" anchor="b">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1696201451"/>
                  </a:ext>
                </a:extLst>
              </a:tr>
              <a:tr h="318012">
                <a:tc>
                  <a:txBody>
                    <a:bodyPr/>
                    <a:lstStyle/>
                    <a:p>
                      <a:pPr algn="l" fontAlgn="b"/>
                      <a:r>
                        <a:rPr lang="en-US" sz="1000" b="0" i="0" u="none" strike="noStrike" cap="none" spc="0">
                          <a:solidFill>
                            <a:schemeClr val="tx1"/>
                          </a:solidFill>
                          <a:effectLst/>
                          <a:latin typeface="Calibri" panose="020F0502020204030204" pitchFamily="34" charset="0"/>
                        </a:rPr>
                        <a:t>F</a:t>
                      </a:r>
                      <a:endParaRPr lang="en-US" sz="1000" cap="none" spc="0">
                        <a:solidFill>
                          <a:schemeClr val="tx1"/>
                        </a:solidFill>
                        <a:effectLst/>
                        <a:latin typeface="Calibri" panose="020F0502020204030204" pitchFamily="34" charset="0"/>
                      </a:endParaRPr>
                    </a:p>
                  </a:txBody>
                  <a:tcPr marL="87341" marR="54122" marT="67186" marB="67186" anchor="b">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lgn="l" fontAlgn="b"/>
                      <a:r>
                        <a:rPr lang="en-US" sz="1000" b="0" i="0" u="none" strike="noStrike" cap="none" spc="0">
                          <a:solidFill>
                            <a:schemeClr val="tx1"/>
                          </a:solidFill>
                          <a:effectLst/>
                          <a:latin typeface="Calibri" panose="020F0502020204030204" pitchFamily="34" charset="0"/>
                        </a:rPr>
                        <a:t>59% or less</a:t>
                      </a:r>
                      <a:endParaRPr lang="en-US" sz="1000" cap="none" spc="0">
                        <a:solidFill>
                          <a:schemeClr val="tx1"/>
                        </a:solidFill>
                        <a:effectLst/>
                        <a:latin typeface="Calibri" panose="020F0502020204030204" pitchFamily="34" charset="0"/>
                      </a:endParaRPr>
                    </a:p>
                  </a:txBody>
                  <a:tcPr marL="87341" marR="54122" marT="67186" marB="67186" anchor="b">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3304914426"/>
                  </a:ext>
                </a:extLst>
              </a:tr>
            </a:tbl>
          </a:graphicData>
        </a:graphic>
      </p:graphicFrame>
    </p:spTree>
    <p:extLst>
      <p:ext uri="{BB962C8B-B14F-4D97-AF65-F5344CB8AC3E}">
        <p14:creationId xmlns:p14="http://schemas.microsoft.com/office/powerpoint/2010/main" val="27179869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84D8E2-38CB-648F-21CA-5730F33BF9DA}"/>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Assignment due dates and late submissions</a:t>
            </a:r>
          </a:p>
        </p:txBody>
      </p:sp>
      <p:sp>
        <p:nvSpPr>
          <p:cNvPr id="3" name="Content Placeholder 2">
            <a:extLst>
              <a:ext uri="{FF2B5EF4-FFF2-40B4-BE49-F238E27FC236}">
                <a16:creationId xmlns:a16="http://schemas.microsoft.com/office/drawing/2014/main" id="{FC77CB0E-6F43-73AC-1AF8-2ACE3EAECA40}"/>
              </a:ext>
            </a:extLst>
          </p:cNvPr>
          <p:cNvSpPr>
            <a:spLocks noGrp="1"/>
          </p:cNvSpPr>
          <p:nvPr>
            <p:ph idx="1"/>
          </p:nvPr>
        </p:nvSpPr>
        <p:spPr>
          <a:xfrm>
            <a:off x="1371599" y="2318197"/>
            <a:ext cx="9724031" cy="3683358"/>
          </a:xfrm>
        </p:spPr>
        <p:txBody>
          <a:bodyPr anchor="ctr">
            <a:normAutofit/>
          </a:bodyPr>
          <a:lstStyle/>
          <a:p>
            <a:r>
              <a:rPr lang="en-US" sz="2400" dirty="0"/>
              <a:t>Due dates for assignments are indicated on the assignment submission page in canvas.  </a:t>
            </a:r>
          </a:p>
          <a:p>
            <a:r>
              <a:rPr lang="en-US" sz="2400" dirty="0"/>
              <a:t>Assignments submitted late will be docked points appropriately.  Submissions past one week after the assignment due date will receive zero points (unless approved prior to assignment due date).  </a:t>
            </a:r>
          </a:p>
          <a:p>
            <a:r>
              <a:rPr lang="en-US" sz="2400" dirty="0"/>
              <a:t>Assignment submissions will not be accepted after the course has ended (see course end date listed for the course in your account at ce.uci.edu).</a:t>
            </a:r>
          </a:p>
        </p:txBody>
      </p:sp>
    </p:spTree>
    <p:extLst>
      <p:ext uri="{BB962C8B-B14F-4D97-AF65-F5344CB8AC3E}">
        <p14:creationId xmlns:p14="http://schemas.microsoft.com/office/powerpoint/2010/main" val="23838275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98C175-7B16-C6C2-DEEE-51BDB675A229}"/>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Technical Requirements</a:t>
            </a:r>
          </a:p>
        </p:txBody>
      </p:sp>
      <p:sp>
        <p:nvSpPr>
          <p:cNvPr id="3" name="Content Placeholder 2">
            <a:extLst>
              <a:ext uri="{FF2B5EF4-FFF2-40B4-BE49-F238E27FC236}">
                <a16:creationId xmlns:a16="http://schemas.microsoft.com/office/drawing/2014/main" id="{19B0123D-C5FC-634B-36A1-7B7D8C9DE6C2}"/>
              </a:ext>
            </a:extLst>
          </p:cNvPr>
          <p:cNvSpPr>
            <a:spLocks noGrp="1"/>
          </p:cNvSpPr>
          <p:nvPr>
            <p:ph idx="1"/>
          </p:nvPr>
        </p:nvSpPr>
        <p:spPr>
          <a:xfrm>
            <a:off x="1371599" y="2318197"/>
            <a:ext cx="9724031" cy="3683358"/>
          </a:xfrm>
        </p:spPr>
        <p:txBody>
          <a:bodyPr anchor="ctr">
            <a:normAutofit/>
          </a:bodyPr>
          <a:lstStyle/>
          <a:p>
            <a:r>
              <a:rPr lang="en-US" sz="2400" dirty="0"/>
              <a:t>You may be required to use a web camera, copy and paste functions, attach documents, or use upload features in the LMS.</a:t>
            </a:r>
          </a:p>
          <a:p>
            <a:r>
              <a:rPr lang="en-US" sz="2400" dirty="0"/>
              <a:t> In addition, you may need to upload and view documents in PDF format. You can download Adobe Acrobat Reader to open PDF files. </a:t>
            </a:r>
          </a:p>
          <a:p>
            <a:r>
              <a:rPr lang="en-US" sz="2400" dirty="0"/>
              <a:t>Please note that Apple OS includes the Preview application, which allows you to open PDF files.</a:t>
            </a:r>
          </a:p>
        </p:txBody>
      </p:sp>
    </p:spTree>
    <p:extLst>
      <p:ext uri="{BB962C8B-B14F-4D97-AF65-F5344CB8AC3E}">
        <p14:creationId xmlns:p14="http://schemas.microsoft.com/office/powerpoint/2010/main" val="20509162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9CB8D5-0E74-26F4-FACE-2FF6F7F5785C}"/>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Communication Expectations</a:t>
            </a:r>
          </a:p>
        </p:txBody>
      </p:sp>
      <p:sp>
        <p:nvSpPr>
          <p:cNvPr id="3" name="Content Placeholder 2">
            <a:extLst>
              <a:ext uri="{FF2B5EF4-FFF2-40B4-BE49-F238E27FC236}">
                <a16:creationId xmlns:a16="http://schemas.microsoft.com/office/drawing/2014/main" id="{6D3607C8-C986-ED4E-F2A7-33673C91C40E}"/>
              </a:ext>
            </a:extLst>
          </p:cNvPr>
          <p:cNvSpPr>
            <a:spLocks noGrp="1"/>
          </p:cNvSpPr>
          <p:nvPr>
            <p:ph idx="1"/>
          </p:nvPr>
        </p:nvSpPr>
        <p:spPr>
          <a:xfrm>
            <a:off x="1371599" y="2318197"/>
            <a:ext cx="9724031" cy="3683358"/>
          </a:xfrm>
        </p:spPr>
        <p:txBody>
          <a:bodyPr anchor="ctr">
            <a:noAutofit/>
          </a:bodyPr>
          <a:lstStyle/>
          <a:p>
            <a:r>
              <a:rPr lang="en-US" sz="2400" dirty="0"/>
              <a:t>The majority of course communication takes place in general course forums. </a:t>
            </a:r>
          </a:p>
          <a:p>
            <a:r>
              <a:rPr lang="en-US" sz="2400" dirty="0"/>
              <a:t>The written language has many advantages: more opportunity for reasoned thought, the ability to go in-depth, and more time to think through an issue before posting a comment. </a:t>
            </a:r>
          </a:p>
          <a:p>
            <a:r>
              <a:rPr lang="en-US" sz="2400" dirty="0"/>
              <a:t>However, written communication also has certain disadvantages, such as a lack of the face-to-face signaling that occurs through body language, intonation, pausing, facial expressions, and gestures. </a:t>
            </a:r>
          </a:p>
          <a:p>
            <a:r>
              <a:rPr lang="en-US" sz="2400" dirty="0"/>
              <a:t>As a result, please be aware of the possibility of miscommunication and compose your comments in a positive, respectful, and constructive manner.</a:t>
            </a:r>
          </a:p>
        </p:txBody>
      </p:sp>
    </p:spTree>
    <p:extLst>
      <p:ext uri="{BB962C8B-B14F-4D97-AF65-F5344CB8AC3E}">
        <p14:creationId xmlns:p14="http://schemas.microsoft.com/office/powerpoint/2010/main" val="12445622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8849BB-86E4-B0B1-8D87-A7F088306937}"/>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UC Irvine Policies</a:t>
            </a:r>
          </a:p>
        </p:txBody>
      </p:sp>
      <p:sp>
        <p:nvSpPr>
          <p:cNvPr id="3" name="Content Placeholder 2">
            <a:extLst>
              <a:ext uri="{FF2B5EF4-FFF2-40B4-BE49-F238E27FC236}">
                <a16:creationId xmlns:a16="http://schemas.microsoft.com/office/drawing/2014/main" id="{A8E466C2-4C60-FC6E-5AA0-F0E012199ABC}"/>
              </a:ext>
            </a:extLst>
          </p:cNvPr>
          <p:cNvSpPr>
            <a:spLocks noGrp="1"/>
          </p:cNvSpPr>
          <p:nvPr>
            <p:ph idx="1"/>
          </p:nvPr>
        </p:nvSpPr>
        <p:spPr>
          <a:xfrm>
            <a:off x="1162593" y="1961145"/>
            <a:ext cx="9724031" cy="3683358"/>
          </a:xfrm>
        </p:spPr>
        <p:txBody>
          <a:bodyPr anchor="ctr">
            <a:noAutofit/>
          </a:bodyPr>
          <a:lstStyle/>
          <a:p>
            <a:pPr marL="0" indent="0">
              <a:buNone/>
            </a:pPr>
            <a:r>
              <a:rPr lang="en-US" sz="2000" i="0" dirty="0">
                <a:effectLst/>
              </a:rPr>
              <a:t>UC Irvine Policies</a:t>
            </a:r>
          </a:p>
          <a:p>
            <a:r>
              <a:rPr lang="en-US" sz="2000" i="0" dirty="0">
                <a:effectLst/>
              </a:rPr>
              <a:t>The University is an institution of learning, research, and scholarship predicated on the existence of an environment of honesty and integrity. As members of the academic community, faculty, students, and administrative officials share responsibility for maintaining this environment. It is essential that all members of the academic community subscribe to the ideal of academic honesty and integrity and accept individual responsibility for their work. Academic dishonesty is unacceptable and will not be tolerated at the University of California, Irvine. Cheating, forgery, dishonest conduct, plagiarism, and collusion in dishonest activities erode the University's educational, research, and social roles</a:t>
            </a:r>
            <a:r>
              <a:rPr lang="en-US" sz="2000" dirty="0"/>
              <a:t>.</a:t>
            </a:r>
            <a:endParaRPr lang="en-US" sz="2000" i="0" dirty="0">
              <a:effectLst/>
            </a:endParaRPr>
          </a:p>
          <a:p>
            <a:r>
              <a:rPr lang="en-US" sz="2000" i="0" dirty="0">
                <a:effectLst/>
              </a:rPr>
              <a:t>Students who knowingly or intentionally conduct or help another student engage in dishonest conduct, acts of cheating, or plagiarism will be subject to disciplinary action at the discretion of UCI Division of Continuing Education.</a:t>
            </a:r>
          </a:p>
        </p:txBody>
      </p:sp>
    </p:spTree>
    <p:extLst>
      <p:ext uri="{BB962C8B-B14F-4D97-AF65-F5344CB8AC3E}">
        <p14:creationId xmlns:p14="http://schemas.microsoft.com/office/powerpoint/2010/main" val="33896400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8849BB-86E4-B0B1-8D87-A7F088306937}"/>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UC Irvine Policies</a:t>
            </a:r>
          </a:p>
        </p:txBody>
      </p:sp>
      <p:sp>
        <p:nvSpPr>
          <p:cNvPr id="3" name="Content Placeholder 2">
            <a:extLst>
              <a:ext uri="{FF2B5EF4-FFF2-40B4-BE49-F238E27FC236}">
                <a16:creationId xmlns:a16="http://schemas.microsoft.com/office/drawing/2014/main" id="{A8E466C2-4C60-FC6E-5AA0-F0E012199ABC}"/>
              </a:ext>
            </a:extLst>
          </p:cNvPr>
          <p:cNvSpPr>
            <a:spLocks noGrp="1"/>
          </p:cNvSpPr>
          <p:nvPr>
            <p:ph idx="1"/>
          </p:nvPr>
        </p:nvSpPr>
        <p:spPr>
          <a:xfrm>
            <a:off x="1371599" y="2318197"/>
            <a:ext cx="9724031" cy="3683358"/>
          </a:xfrm>
        </p:spPr>
        <p:txBody>
          <a:bodyPr anchor="ctr">
            <a:normAutofit/>
          </a:bodyPr>
          <a:lstStyle/>
          <a:p>
            <a:pPr marL="0" indent="0">
              <a:buNone/>
            </a:pPr>
            <a:r>
              <a:rPr lang="en-US" sz="2400" i="0" dirty="0">
                <a:effectLst/>
              </a:rPr>
              <a:t>Privacy</a:t>
            </a:r>
          </a:p>
          <a:p>
            <a:r>
              <a:rPr lang="en-US" sz="2400" i="0" dirty="0">
                <a:effectLst/>
              </a:rPr>
              <a:t>UC Irvine is fully committed to maintaining the integrity of your personal student information, including academic records, in accordance with the Federal Family Education Rights and Privacy Act of 1974 (FERPA). For complete information on privacy and FERPA, please visit the UCI Privacy and Student Records website.</a:t>
            </a:r>
          </a:p>
        </p:txBody>
      </p:sp>
    </p:spTree>
    <p:extLst>
      <p:ext uri="{BB962C8B-B14F-4D97-AF65-F5344CB8AC3E}">
        <p14:creationId xmlns:p14="http://schemas.microsoft.com/office/powerpoint/2010/main" val="32236502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8849BB-86E4-B0B1-8D87-A7F088306937}"/>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UC Irvine Policies</a:t>
            </a:r>
          </a:p>
        </p:txBody>
      </p:sp>
      <p:sp>
        <p:nvSpPr>
          <p:cNvPr id="3" name="Content Placeholder 2">
            <a:extLst>
              <a:ext uri="{FF2B5EF4-FFF2-40B4-BE49-F238E27FC236}">
                <a16:creationId xmlns:a16="http://schemas.microsoft.com/office/drawing/2014/main" id="{A8E466C2-4C60-FC6E-5AA0-F0E012199ABC}"/>
              </a:ext>
            </a:extLst>
          </p:cNvPr>
          <p:cNvSpPr>
            <a:spLocks noGrp="1"/>
          </p:cNvSpPr>
          <p:nvPr>
            <p:ph idx="1"/>
          </p:nvPr>
        </p:nvSpPr>
        <p:spPr>
          <a:xfrm>
            <a:off x="1371599" y="2318197"/>
            <a:ext cx="9724031" cy="3683358"/>
          </a:xfrm>
        </p:spPr>
        <p:txBody>
          <a:bodyPr anchor="ctr">
            <a:noAutofit/>
          </a:bodyPr>
          <a:lstStyle/>
          <a:p>
            <a:pPr marL="0" indent="0">
              <a:buNone/>
            </a:pPr>
            <a:r>
              <a:rPr lang="en-US" sz="2400" i="0" dirty="0">
                <a:effectLst/>
              </a:rPr>
              <a:t>Accessibility</a:t>
            </a:r>
          </a:p>
          <a:p>
            <a:r>
              <a:rPr lang="en-US" sz="2400" i="0" dirty="0">
                <a:effectLst/>
              </a:rPr>
              <a:t>The University of California and UC Irvine are committed to improving accessibility for all students. For complete information about UC Irvine’s policy affecting all information technology systems and software, please visit UCI’s accessibility policy. For accessibility information pertaining to the software used in UCI courses, please see below:</a:t>
            </a:r>
          </a:p>
          <a:p>
            <a:endParaRPr lang="en-US" sz="2400" i="0" dirty="0">
              <a:effectLst/>
            </a:endParaRPr>
          </a:p>
          <a:p>
            <a:pPr lvl="1"/>
            <a:r>
              <a:rPr lang="en-US" i="0" dirty="0">
                <a:effectLst/>
              </a:rPr>
              <a:t>Canvas’ Accessibility Statement</a:t>
            </a:r>
          </a:p>
          <a:p>
            <a:pPr lvl="1"/>
            <a:r>
              <a:rPr lang="en-US" i="0" dirty="0">
                <a:effectLst/>
              </a:rPr>
              <a:t>Zoom Video Communications Accessibility Conformance Report</a:t>
            </a:r>
          </a:p>
          <a:p>
            <a:pPr lvl="1"/>
            <a:r>
              <a:rPr lang="en-US" i="0" dirty="0" err="1">
                <a:effectLst/>
              </a:rPr>
              <a:t>VidGrid</a:t>
            </a:r>
            <a:r>
              <a:rPr lang="en-US" i="0" dirty="0">
                <a:effectLst/>
              </a:rPr>
              <a:t> Accessibility Conformance Report</a:t>
            </a:r>
          </a:p>
        </p:txBody>
      </p:sp>
    </p:spTree>
    <p:extLst>
      <p:ext uri="{BB962C8B-B14F-4D97-AF65-F5344CB8AC3E}">
        <p14:creationId xmlns:p14="http://schemas.microsoft.com/office/powerpoint/2010/main" val="2650662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18F821-C2E5-1D75-D3BF-ED5BEF5C6797}"/>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UCI-DCE Student Services</a:t>
            </a:r>
          </a:p>
        </p:txBody>
      </p:sp>
      <p:sp>
        <p:nvSpPr>
          <p:cNvPr id="3" name="Content Placeholder 2">
            <a:extLst>
              <a:ext uri="{FF2B5EF4-FFF2-40B4-BE49-F238E27FC236}">
                <a16:creationId xmlns:a16="http://schemas.microsoft.com/office/drawing/2014/main" id="{CFB35751-EE92-0892-910A-ADD20F33E716}"/>
              </a:ext>
            </a:extLst>
          </p:cNvPr>
          <p:cNvSpPr>
            <a:spLocks noGrp="1"/>
          </p:cNvSpPr>
          <p:nvPr>
            <p:ph idx="1"/>
          </p:nvPr>
        </p:nvSpPr>
        <p:spPr>
          <a:xfrm>
            <a:off x="1371599" y="2318197"/>
            <a:ext cx="9724031" cy="3683358"/>
          </a:xfrm>
        </p:spPr>
        <p:txBody>
          <a:bodyPr anchor="ctr">
            <a:noAutofit/>
          </a:bodyPr>
          <a:lstStyle/>
          <a:p>
            <a:pPr marL="0" indent="0">
              <a:buNone/>
            </a:pPr>
            <a:r>
              <a:rPr lang="en-US" sz="2400" dirty="0"/>
              <a:t>The UCI Division of Continuing Education Student Services office is responsible for maintaining enrollment, academic, and financial records while providing academic support services to DCE students, instructors, and staff. Services include:</a:t>
            </a:r>
          </a:p>
          <a:p>
            <a:pPr lvl="2"/>
            <a:r>
              <a:rPr lang="en-US" sz="2400" dirty="0"/>
              <a:t>Student records and DCE My Account portal access</a:t>
            </a:r>
          </a:p>
          <a:p>
            <a:pPr lvl="2"/>
            <a:r>
              <a:rPr lang="en-US" sz="2400" dirty="0"/>
              <a:t>Adding, dropping, and waiting lists for all DCE courses and programs</a:t>
            </a:r>
          </a:p>
          <a:p>
            <a:pPr lvl="2"/>
            <a:r>
              <a:rPr lang="en-US" sz="2400" dirty="0"/>
              <a:t>Cashiering, refunds, and accounts receivable</a:t>
            </a:r>
          </a:p>
          <a:p>
            <a:pPr lvl="2"/>
            <a:r>
              <a:rPr lang="en-US" sz="2400" dirty="0"/>
              <a:t>Grades, transcripts, candidacy, and certificates</a:t>
            </a:r>
          </a:p>
          <a:p>
            <a:pPr lvl="2"/>
            <a:r>
              <a:rPr lang="en-US" sz="2400" dirty="0"/>
              <a:t>International F-1 student advising, student academic success, and wellness support</a:t>
            </a:r>
          </a:p>
          <a:p>
            <a:pPr lvl="2"/>
            <a:r>
              <a:rPr lang="en-US" sz="2400" dirty="0"/>
              <a:t>Important notifications regarding DCE course-related changes such as schedule, location, instructor, and course materials</a:t>
            </a:r>
          </a:p>
        </p:txBody>
      </p:sp>
    </p:spTree>
    <p:extLst>
      <p:ext uri="{BB962C8B-B14F-4D97-AF65-F5344CB8AC3E}">
        <p14:creationId xmlns:p14="http://schemas.microsoft.com/office/powerpoint/2010/main" val="36856532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255D6472-C7C0-153B-20C2-BAE11C2584E8}"/>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kern="1200" dirty="0">
                <a:solidFill>
                  <a:srgbClr val="FFFFFF"/>
                </a:solidFill>
                <a:latin typeface="+mj-lt"/>
                <a:ea typeface="+mj-ea"/>
                <a:cs typeface="+mj-cs"/>
              </a:rPr>
              <a:t>Questions?</a:t>
            </a:r>
          </a:p>
        </p:txBody>
      </p:sp>
    </p:spTree>
    <p:extLst>
      <p:ext uri="{BB962C8B-B14F-4D97-AF65-F5344CB8AC3E}">
        <p14:creationId xmlns:p14="http://schemas.microsoft.com/office/powerpoint/2010/main" val="21182058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1121</Words>
  <Application>Microsoft Office PowerPoint</Application>
  <PresentationFormat>Widescreen</PresentationFormat>
  <Paragraphs>105</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Google Sans</vt:lpstr>
      <vt:lpstr>Aptos</vt:lpstr>
      <vt:lpstr>Aptos Display</vt:lpstr>
      <vt:lpstr>Arial</vt:lpstr>
      <vt:lpstr>Calibri</vt:lpstr>
      <vt:lpstr>Office Theme</vt:lpstr>
      <vt:lpstr>I&amp;C SCI X460.17 Java Programming</vt:lpstr>
      <vt:lpstr>Course Description</vt:lpstr>
      <vt:lpstr>Prerequisites</vt:lpstr>
      <vt:lpstr>Course Objectives</vt:lpstr>
      <vt:lpstr>Course Material</vt:lpstr>
      <vt:lpstr>Editor, Compiler, IDE</vt:lpstr>
      <vt:lpstr>Evaluation and Grading</vt:lpstr>
      <vt:lpstr>Grading Scale</vt:lpstr>
      <vt:lpstr>Assignment due dates and late submissions</vt:lpstr>
      <vt:lpstr>Technical Requirements</vt:lpstr>
      <vt:lpstr>Communication Expectations</vt:lpstr>
      <vt:lpstr>UC Irvine Policies</vt:lpstr>
      <vt:lpstr>UC Irvine Policies</vt:lpstr>
      <vt:lpstr>UC Irvine Policies</vt:lpstr>
      <vt:lpstr>UCI-DCE Student Services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Samuel Addington</dc:creator>
  <cp:lastModifiedBy>Samuel Addington</cp:lastModifiedBy>
  <cp:revision>1</cp:revision>
  <dcterms:created xsi:type="dcterms:W3CDTF">2024-09-16T07:40:44Z</dcterms:created>
  <dcterms:modified xsi:type="dcterms:W3CDTF">2024-09-16T08:03:13Z</dcterms:modified>
</cp:coreProperties>
</file>